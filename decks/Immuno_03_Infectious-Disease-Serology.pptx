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6A1B9A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6A1B9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6A1B9A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·  LECTURE 3 OF 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Infectious Disease Serology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vs Remote, Window Periods, and Confirmatory Algorithms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IgM/IgG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kinetic basis for distinguishing acute from past infection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where the patient is infected but the screen is negative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HIV and syphilis testing follow defined algorithms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Infectious-disease serology is interpreted through antibody kinetics and validated algorithms. Recognizing window periods, IgM pitfalls, and confirmatory sequences prevents both missed and overcalled infections.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serologic snapshot can mislead — timing relative to infection (window, seroconversion) is everything.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acute from remote infection serologically.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for window periods.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IgM pitfalls.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confirmatory algorithms for hepatitis B, HIV, and syphilis.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avidity and paired (acute/convalescent) sera.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serology with molecular testing.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kinetics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IgM/IgG and window periods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Hepatitis B panel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reading the markers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&amp; syphilis algorithms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screen and confirm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IgM false positives, avidity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Kinetics &amp; the Hepatitis B Panel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HEPATITIS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Hepatitis B Serologic Timeline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immuno_hb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04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15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HBsAg marks active infection; anti-HBc (IgM then IgG) appears next; anti-HBs marks recovery/immunity — with a window in between.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HEPATITIS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HBV Panel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2194560"/>
                <a:gridCol w="4928616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HBsAg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anti-HBc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anti-HBs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1B9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Acute infection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Chronic infection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period (acute)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past infection (immune)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Vaccinated (immune)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Susceptible (no markers)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anti-HBc has several causes (window, remote infection with waned anti-HBs, occult infection, or false positive) — interpret with HBV DNA and risk.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KINETICS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vs Remote and the Window Period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KINETICS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IgM rises first (recent/acute), then IgG (which persists — past exposure or immunity).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Seroconversion (negative → positive) on paired sera confirms recent infection.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four-fold IgG rise between acute and convalescent samples indicates recent infection.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IgG avidity: low avidity = recent; high avidity = remote.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PERIOD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interval after infection before the screening marker turns positive — a true infection can screen negative.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Fourth-generation HIV (antigen/antibody) shortens but does not eliminate the window.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NAAT detects infection earlier than antibody.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or molecular testing resolves a suspected window.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HIV, Syphilis &amp; Pitfalls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HIV ALGORITHM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HIV Testing Algorithm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3442106" cy="1188720"/>
          </a:xfrm>
          <a:prstGeom prst="roundRect">
            <a:avLst>
              <a:gd name="adj" fmla="val 5385"/>
            </a:avLst>
          </a:prstGeom>
          <a:solidFill>
            <a:srgbClr val="6A1B9A"/>
          </a:solidFill>
          <a:ln w="15875">
            <a:solidFill>
              <a:srgbClr val="6A1B9A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828800"/>
            <a:ext cx="3332378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4th-gen Ag/Ab combo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(p24 antigen + antibody)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027322" y="2423160"/>
            <a:ext cx="329184" cy="0"/>
          </a:xfrm>
          <a:prstGeom prst="line">
            <a:avLst/>
          </a:prstGeom>
          <a:noFill/>
          <a:ln w="22225">
            <a:solidFill>
              <a:srgbClr val="6A1B9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74794" y="1828800"/>
            <a:ext cx="3442106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29658" y="1828800"/>
            <a:ext cx="3332378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HIV-1/2 antibody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 assay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835189" y="2423160"/>
            <a:ext cx="329184" cy="0"/>
          </a:xfrm>
          <a:prstGeom prst="line">
            <a:avLst/>
          </a:prstGeom>
          <a:noFill/>
          <a:ln w="22225">
            <a:solidFill>
              <a:srgbClr val="6A1B9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82661" y="1828800"/>
            <a:ext cx="3442106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37525" y="1828800"/>
            <a:ext cx="3332378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discordant → HIV-1 NAAT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(acute infection / resolve)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246120"/>
            <a:ext cx="11057839" cy="914400"/>
          </a:xfrm>
          <a:prstGeom prst="roundRect">
            <a:avLst>
              <a:gd name="adj" fmla="val 9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3246120"/>
            <a:ext cx="105091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fourth-generation antigen/antibody screen detects acute infection earlier via p24 antigen; reactive screens are confirmed and typed, with NAAT resolving discordant results or suspected acute infection.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4343400"/>
            <a:ext cx="11057839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reactive screen is not a diagnosis until the algorithm is complete — report per the sequence.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SYPHILIS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Treponemal vs Non-Treponemal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TEST TYPES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Non-treponemal (RPR/VDRL): titers that fall with treatment — used to monitor response.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Treponemal (TPPA, EIA/CIA): stay positive for life after infection.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algorithm: non-treponemal screen → treponemal confirm.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algorithm: treponemal screen → non-treponemal → second treponemal if discordant.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&amp; PITFALLS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false-positive non-treponemal tests (pregnancy, autoimmune, infections).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prozone effect: very high titers cause a falsely negative non-treponemal test — dilute.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treponemal-positive / non-treponemal-negative result may be treated or remote infection.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non-treponemal titers (four-fold change) to judge treatment response.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acute hepatitis has negative HBsAg and negative anti-HBs, but positive IgM anti-HBc.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phase of infection is this, and why are the surface markers negative?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Hepatitis B Window Period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period of acute HBV — HBsAg has cleared but anti-HBs has not yet appeared.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IgM anti-HBc is the key marker of recent/acute infection during the window.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anti-HBc, the diagnosis would be missed.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HBV DNA can confirm if needed.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HBV window, IgM anti-HBc is the only positive serologic marker — always include anti-HBc in acute hepatitis panels.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pregnant patient screens reactive on a treponemal immunoassay but has a negative RPR. She was treated for syphilis years ago.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interpret this reverse-algorithm result?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Reverse-Algorithm Syphilis Result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Treponemal-positive / non-treponemal-negative most often reflects previously treated or late/remote infection.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Treponemal antibodies persist for life; the RPR falls after treatment.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different treponemal test helps resolve discordance and exclude a false-positive screen.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treatment history and clinical findings.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reverse algorithm, treponemal+/RPR− usually means past or treated infection — confirm with a second treponemal assay and history.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marker indicates acute hepatitis B during the window period when HBsAg and anti-HBs are negative?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Anti-HBs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IgM anti-HBc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HBeAg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IgG anti-HBc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Anti-HAV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IgM anti-HBc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window, HBsAg has cleared and anti-HBs has not appeared; IgM anti-HBc is the marker of recent/acute infection.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high-titer syphilis sample yields a falsely NEGATIVE non-treponemal (RPR) result. This is due to: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Window period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The prozone effect (dilute to reveal positivity)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Treponemal cross-reactivity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Low specificity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Biotin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Prozone effect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 antibody impairs lattice formation, falsely lowering the RPR; diluting the sample reveals the true positive.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fourth-generation HIV screen improves early detection because it adds: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IgM testing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p24 antigen detection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Western blot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Viral culture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CD4 count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p24 antigen detection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Fourth-generation assays detect p24 antigen in addition to antibody, narrowing the window period; the algorithm then differentiates and, if needed, uses NAAT.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serology by kinetics: IgM (recent) then persistent IgG; seroconversion or four-fold IgG rise confirms recent infection.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HBV panel: HBsAg (active), anti-HBc IgM/IgG (exposure/window), anti-HBs (immunity); IgM anti-HBc marks the window.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HIV: fourth-generation Ag/Ab screen → differentiation assay → NAAT for discordant/acute; a reactive screen is not a diagnosis.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Syphilis: treponemal tests stay positive for life; follow non-treponemal titers for treatment response; beware prozone and biological false positives.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periods and IgM false positives are the classic traps — use paired sera, avidity, or NAAT to resolve.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CDC. Laboratory Testing for the Diagnosis of HIV Infection: Updated Recommendations. 2014/updates.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CDC. Syphilis testing algorithms (traditional and reverse).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Rifai N, et al. Tietz Textbook of Clinical Chemistry,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CLSI/Manual of Clinical Microbiology serology chapters.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Infectious Disease Serology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2026-06-28T05:47:01Z</dcterms:created>
  <dcterms:modified xsi:type="dcterms:W3CDTF">2026-06-28T05:47:01Z</dcterms:modified>
</cp:coreProperties>
</file>