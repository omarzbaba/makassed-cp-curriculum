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A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52560" y="1188720"/>
            <a:ext cx="4480560" cy="4480560"/>
          </a:xfrm>
          <a:prstGeom prst="ellipse">
            <a:avLst/>
          </a:prstGeom>
          <a:solidFill>
            <a:srgbClr val="6A1B9A">
              <a:alpha val="14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0" y="2743200"/>
            <a:ext cx="2468880" cy="2468880"/>
          </a:xfrm>
          <a:prstGeom prst="ellipse">
            <a:avLst/>
          </a:prstGeom>
          <a:solidFill>
            <a:srgbClr val="6A1B9A">
              <a:alpha val="2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835640" y="3611880"/>
            <a:ext cx="1143000" cy="1143000"/>
          </a:xfrm>
          <a:prstGeom prst="ellipse">
            <a:avLst/>
          </a:prstGeom>
          <a:solidFill>
            <a:srgbClr val="6A1B9A">
              <a:alpha val="42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66928" y="1078992"/>
            <a:ext cx="5532120" cy="420624"/>
          </a:xfrm>
          <a:prstGeom prst="roundRect">
            <a:avLst>
              <a:gd name="adj" fmla="val 50000"/>
            </a:avLst>
          </a:prstGeom>
          <a:solidFill>
            <a:srgbClr val="6A1B9A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1078992"/>
            <a:ext cx="5532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1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PATHOLOGY RESIDENCY LECTURE SERIES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66928" y="181051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IMMUNOLOGY &amp; SEROLOGY  ·  LECTURE 3 OF 4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66928" y="2286000"/>
            <a:ext cx="8595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Infectious Disease Serology</a:t>
            </a:r>
            <a:endParaRPr lang="en-US" sz="4600" dirty="0"/>
          </a:p>
        </p:txBody>
      </p:sp>
      <p:sp>
        <p:nvSpPr>
          <p:cNvPr id="9" name="Text 7"/>
          <p:cNvSpPr/>
          <p:nvPr/>
        </p:nvSpPr>
        <p:spPr>
          <a:xfrm>
            <a:off x="566928" y="38404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BF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IgM/IgG Kinetics, Window Periods, and Confirmatory Algorithms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566928" y="507492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Tamima El-Jisr</a:t>
            </a:r>
            <a:endParaRPr lang="en-US" sz="15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9DB1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Chairperson, Department of Laboratory Medicine</a:t>
            </a:r>
            <a:endParaRPr lang="en-US" sz="15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9DB1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Hospital, Beirut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899855" y="59893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DA0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Pathology Residency Curriculum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IMMUNOLOGY &amp; SEROLOGY   ·   FRAMING THE 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54480"/>
            <a:ext cx="3503066" cy="1554480"/>
          </a:xfrm>
          <a:prstGeom prst="roundRect">
            <a:avLst>
              <a:gd name="adj" fmla="val 5294"/>
            </a:avLst>
          </a:prstGeom>
          <a:solidFill>
            <a:srgbClr val="F1E8F7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66928" y="1700784"/>
            <a:ext cx="350306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IgM→IgG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713232" y="2468880"/>
            <a:ext cx="321045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Antibody class dates the infection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344314" y="1554480"/>
            <a:ext cx="3503066" cy="1554480"/>
          </a:xfrm>
          <a:prstGeom prst="roundRect">
            <a:avLst>
              <a:gd name="adj" fmla="val 5294"/>
            </a:avLst>
          </a:prstGeom>
          <a:solidFill>
            <a:srgbClr val="F1E8F7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344314" y="1700784"/>
            <a:ext cx="350306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4490618" y="2468880"/>
            <a:ext cx="321045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infection can be antibody-negative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121701" y="1554480"/>
            <a:ext cx="3503066" cy="1554480"/>
          </a:xfrm>
          <a:prstGeom prst="roundRect">
            <a:avLst>
              <a:gd name="adj" fmla="val 5294"/>
            </a:avLst>
          </a:prstGeom>
          <a:solidFill>
            <a:srgbClr val="F1E8F7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121701" y="1700784"/>
            <a:ext cx="350306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8268005" y="2468880"/>
            <a:ext cx="321045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then confirm to control false positives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66928" y="3429000"/>
            <a:ext cx="11057839" cy="1371600"/>
          </a:xfrm>
          <a:prstGeom prst="roundRect">
            <a:avLst>
              <a:gd name="adj" fmla="val 6000"/>
            </a:avLst>
          </a:prstGeom>
          <a:solidFill>
            <a:srgbClr val="F1E8F7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41248" y="3611880"/>
            <a:ext cx="10509199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Infectious serology infers infection and immunity from the antibody response. Interpreting it well means understanding antibody kinetics, the window period, and the screen-then-confirm algorithms that protect predictive value.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566928" y="5029200"/>
            <a:ext cx="11057839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Antibodies lag infection — a negative serology in the window period does not exclude acute infection.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IMMUNOLOGY &amp; SEROLOGY   ·   ·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481328"/>
            <a:ext cx="5346040" cy="1395984"/>
          </a:xfrm>
          <a:prstGeom prst="roundRect">
            <a:avLst>
              <a:gd name="adj" fmla="val 5895"/>
            </a:avLst>
          </a:prstGeom>
          <a:solidFill>
            <a:srgbClr val="F3F7F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68096" y="1969008"/>
            <a:ext cx="420624" cy="420624"/>
          </a:xfrm>
          <a:prstGeom prst="ellipse">
            <a:avLst/>
          </a:prstGeom>
          <a:solidFill>
            <a:srgbClr val="6A1B9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68096" y="19690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353312" y="1481328"/>
            <a:ext cx="4385920" cy="139598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 IgM and IgG kinetics and seroconversion.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278728" y="1481328"/>
            <a:ext cx="5346040" cy="1395984"/>
          </a:xfrm>
          <a:prstGeom prst="roundRect">
            <a:avLst>
              <a:gd name="adj" fmla="val 5895"/>
            </a:avLst>
          </a:prstGeom>
          <a:solidFill>
            <a:srgbClr val="F3F7F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79896" y="1969008"/>
            <a:ext cx="420624" cy="420624"/>
          </a:xfrm>
          <a:prstGeom prst="ellipse">
            <a:avLst/>
          </a:prstGeom>
          <a:solidFill>
            <a:srgbClr val="6A1B9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79896" y="19690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065112" y="1481328"/>
            <a:ext cx="4385920" cy="139598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the window period and its implications.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66928" y="3151632"/>
            <a:ext cx="5346040" cy="1395984"/>
          </a:xfrm>
          <a:prstGeom prst="roundRect">
            <a:avLst>
              <a:gd name="adj" fmla="val 5895"/>
            </a:avLst>
          </a:prstGeom>
          <a:solidFill>
            <a:srgbClr val="F3F7F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68096" y="3639312"/>
            <a:ext cx="420624" cy="420624"/>
          </a:xfrm>
          <a:prstGeom prst="ellipse">
            <a:avLst/>
          </a:prstGeom>
          <a:solidFill>
            <a:srgbClr val="6A1B9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68096" y="36393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353312" y="3151632"/>
            <a:ext cx="4385920" cy="139598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hepatitis B serologic panels.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278728" y="3151632"/>
            <a:ext cx="5346040" cy="1395984"/>
          </a:xfrm>
          <a:prstGeom prst="roundRect">
            <a:avLst>
              <a:gd name="adj" fmla="val 5895"/>
            </a:avLst>
          </a:prstGeom>
          <a:solidFill>
            <a:srgbClr val="F3F7F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79896" y="3639312"/>
            <a:ext cx="420624" cy="420624"/>
          </a:xfrm>
          <a:prstGeom prst="ellipse">
            <a:avLst/>
          </a:prstGeom>
          <a:solidFill>
            <a:srgbClr val="6A1B9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479896" y="36393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065112" y="3151632"/>
            <a:ext cx="4385920" cy="139598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HIV and syphilis testing algorithms.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566928" y="4821936"/>
            <a:ext cx="5346040" cy="1395984"/>
          </a:xfrm>
          <a:prstGeom prst="roundRect">
            <a:avLst>
              <a:gd name="adj" fmla="val 5895"/>
            </a:avLst>
          </a:prstGeom>
          <a:solidFill>
            <a:srgbClr val="F3F7F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68096" y="5309616"/>
            <a:ext cx="420624" cy="420624"/>
          </a:xfrm>
          <a:prstGeom prst="ellipse">
            <a:avLst/>
          </a:prstGeom>
          <a:solidFill>
            <a:srgbClr val="6A1B9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68096" y="530961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353312" y="4821936"/>
            <a:ext cx="4385920" cy="139598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Distinguish acute infection, past infection, and immunity.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6278728" y="4821936"/>
            <a:ext cx="5346040" cy="1395984"/>
          </a:xfrm>
          <a:prstGeom prst="roundRect">
            <a:avLst>
              <a:gd name="adj" fmla="val 5895"/>
            </a:avLst>
          </a:prstGeom>
          <a:solidFill>
            <a:srgbClr val="F3F7F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479896" y="5309616"/>
            <a:ext cx="420624" cy="420624"/>
          </a:xfrm>
          <a:prstGeom prst="ellipse">
            <a:avLst/>
          </a:prstGeom>
          <a:solidFill>
            <a:srgbClr val="6A1B9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479896" y="530961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7065112" y="4821936"/>
            <a:ext cx="4385920" cy="139598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Recognize false positives/negatives and confirmatory testing.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IMMUNOLOGY &amp; SEROLOGY   ·   WHAT WE WILL COVER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481328"/>
            <a:ext cx="11057839" cy="786384"/>
          </a:xfrm>
          <a:prstGeom prst="roundRect">
            <a:avLst>
              <a:gd name="adj" fmla="val 10465"/>
            </a:avLst>
          </a:prstGeom>
          <a:solidFill>
            <a:srgbClr val="F3F7F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1682496"/>
            <a:ext cx="384048" cy="384048"/>
          </a:xfrm>
          <a:prstGeom prst="ellipse">
            <a:avLst/>
          </a:prstGeom>
          <a:solidFill>
            <a:srgbClr val="6A1B9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49808" y="16824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298448" y="1481328"/>
            <a:ext cx="10143439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Antibody kinetics</a:t>
            </a:r>
            <a:pPr algn="l" indent="0" marL="0">
              <a:buNone/>
            </a:pPr>
            <a:r>
              <a:rPr lang="en-US" sz="1200" dirty="0">
                <a:solidFill>
                  <a:srgbClr val="6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IgM, IgG, seroconversion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66928" y="2432304"/>
            <a:ext cx="11057839" cy="786384"/>
          </a:xfrm>
          <a:prstGeom prst="roundRect">
            <a:avLst>
              <a:gd name="adj" fmla="val 10465"/>
            </a:avLst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749808" y="2633472"/>
            <a:ext cx="384048" cy="384048"/>
          </a:xfrm>
          <a:prstGeom prst="ellipse">
            <a:avLst/>
          </a:prstGeom>
          <a:solidFill>
            <a:srgbClr val="6A1B9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49808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298448" y="2432304"/>
            <a:ext cx="10143439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 period</a:t>
            </a:r>
            <a:pPr algn="l" indent="0" marL="0">
              <a:buNone/>
            </a:pPr>
            <a:r>
              <a:rPr lang="en-US" sz="1200" dirty="0">
                <a:solidFill>
                  <a:srgbClr val="6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antigen/NAAT coverage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66928" y="3383280"/>
            <a:ext cx="11057839" cy="786384"/>
          </a:xfrm>
          <a:prstGeom prst="roundRect">
            <a:avLst>
              <a:gd name="adj" fmla="val 10465"/>
            </a:avLst>
          </a:prstGeom>
          <a:solidFill>
            <a:srgbClr val="F3F7F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49808" y="3584448"/>
            <a:ext cx="384048" cy="384048"/>
          </a:xfrm>
          <a:prstGeom prst="ellipse">
            <a:avLst/>
          </a:prstGeom>
          <a:solidFill>
            <a:srgbClr val="6A1B9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49808" y="35844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298448" y="3383280"/>
            <a:ext cx="10143439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Hepatitis B panel</a:t>
            </a:r>
            <a:pPr algn="l" indent="0" marL="0">
              <a:buNone/>
            </a:pPr>
            <a:r>
              <a:rPr lang="en-US" sz="1200" dirty="0">
                <a:solidFill>
                  <a:srgbClr val="6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interpreting markers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66928" y="4334256"/>
            <a:ext cx="11057839" cy="786384"/>
          </a:xfrm>
          <a:prstGeom prst="roundRect">
            <a:avLst>
              <a:gd name="adj" fmla="val 10465"/>
            </a:avLst>
          </a:prstGeom>
          <a:solidFill>
            <a:srgbClr val="FFFFFF"/>
          </a:solidFill>
          <a:ln/>
        </p:spPr>
      </p:sp>
      <p:sp>
        <p:nvSpPr>
          <p:cNvPr id="17" name="Shape 15"/>
          <p:cNvSpPr/>
          <p:nvPr/>
        </p:nvSpPr>
        <p:spPr>
          <a:xfrm>
            <a:off x="749808" y="4535424"/>
            <a:ext cx="384048" cy="384048"/>
          </a:xfrm>
          <a:prstGeom prst="ellipse">
            <a:avLst/>
          </a:prstGeom>
          <a:solidFill>
            <a:srgbClr val="6A1B9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49808" y="45354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298448" y="4334256"/>
            <a:ext cx="10143439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HIV &amp; syphilis algorithms</a:t>
            </a:r>
            <a:pPr algn="l" indent="0" marL="0">
              <a:buNone/>
            </a:pPr>
            <a:r>
              <a:rPr lang="en-US" sz="1200" dirty="0">
                <a:solidFill>
                  <a:srgbClr val="6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screen then confirm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66928" y="5285232"/>
            <a:ext cx="11057839" cy="786384"/>
          </a:xfrm>
          <a:prstGeom prst="roundRect">
            <a:avLst>
              <a:gd name="adj" fmla="val 10465"/>
            </a:avLst>
          </a:prstGeom>
          <a:solidFill>
            <a:srgbClr val="F3F7F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49808" y="5486400"/>
            <a:ext cx="384048" cy="384048"/>
          </a:xfrm>
          <a:prstGeom prst="ellipse">
            <a:avLst/>
          </a:prstGeom>
          <a:solidFill>
            <a:srgbClr val="6A1B9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49808" y="5486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298448" y="5285232"/>
            <a:ext cx="10143439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Cases &amp; board review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126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280160"/>
            <a:ext cx="4754880" cy="4754880"/>
          </a:xfrm>
          <a:prstGeom prst="ellipse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3931920"/>
            <a:ext cx="3108960" cy="3108960"/>
          </a:xfrm>
          <a:prstGeom prst="ellipse">
            <a:avLst/>
          </a:prstGeom>
          <a:solidFill>
            <a:srgbClr val="FFFFFF">
              <a:alpha val="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178308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1E8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566928" y="32461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50" kern="0" dirty="0">
                <a:solidFill>
                  <a:srgbClr val="F2C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ONE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66928" y="3611880"/>
            <a:ext cx="10607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Antibody Kinetics &amp; the Window</a:t>
            </a:r>
            <a:endParaRPr lang="en-US" sz="3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IMMUNOLOGY &amp; SEROLOGY   ·   KINETICS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Serologic Timeline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75208" y="1481328"/>
            <a:ext cx="10241280" cy="4425696"/>
          </a:xfrm>
          <a:prstGeom prst="roundRect">
            <a:avLst>
              <a:gd name="adj" fmla="val 1860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pic>
        <p:nvPicPr>
          <p:cNvPr id="5" name="Image 0" descr="/tmp/cp_work2/art/immuno_wind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3224" y="1609344"/>
            <a:ext cx="9985248" cy="416966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66928" y="5980176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6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schematic. Antigen rises first, then IgM (recent), then IgG (past/immune); the window period is antibody-negative.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IMMUNOLOGY &amp; SEROLOGY   ·   KINETICS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Antibody Class Tells You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17904"/>
            <a:ext cx="5346040" cy="4114800"/>
          </a:xfrm>
          <a:prstGeom prst="roundRect">
            <a:avLst>
              <a:gd name="adj" fmla="val 2000"/>
            </a:avLst>
          </a:prstGeom>
          <a:solidFill>
            <a:srgbClr val="F1E8F7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04672" y="1682496"/>
            <a:ext cx="488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A1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IGM VS IGG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04672" y="2029968"/>
            <a:ext cx="487055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IgM suggests recent/acute infection; IgG indicates past exposure or immunity.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Seroconversion (a 4-fold IgG rise in paired sera) confirms recent infection.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IgG avidity can help date some infections.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IgM can persist or be falsely positive — interpret with care.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78728" y="1517904"/>
            <a:ext cx="5346040" cy="4114800"/>
          </a:xfrm>
          <a:prstGeom prst="roundRect">
            <a:avLst>
              <a:gd name="adj" fmla="val 2000"/>
            </a:avLst>
          </a:prstGeom>
          <a:solidFill>
            <a:srgbClr val="F1E9F7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16472" y="1682496"/>
            <a:ext cx="488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A1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WINDOW PERIOD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516472" y="2029968"/>
            <a:ext cx="487055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after exposure, antibodies may be undetectable — the window period.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Antigen tests and NAAT shorten the diagnostic window.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negative antibody test does not exclude very recent infection.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or add direct detection when suspicion is high.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126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280160"/>
            <a:ext cx="4754880" cy="4754880"/>
          </a:xfrm>
          <a:prstGeom prst="ellipse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3931920"/>
            <a:ext cx="3108960" cy="3108960"/>
          </a:xfrm>
          <a:prstGeom prst="ellipse">
            <a:avLst/>
          </a:prstGeom>
          <a:solidFill>
            <a:srgbClr val="FFFFFF">
              <a:alpha val="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178308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1E8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566928" y="32461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50" kern="0" dirty="0">
                <a:solidFill>
                  <a:srgbClr val="F2C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TWO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66928" y="3611880"/>
            <a:ext cx="10607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Hepatitis B &amp; Algorithmic Testing</a:t>
            </a:r>
            <a:endParaRPr lang="en-US" sz="3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IMMUNOLOGY &amp; SEROLOGY   ·   HEPATITIS B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Interpreting the Hepatitis B Panel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75208" y="1481328"/>
            <a:ext cx="10241280" cy="4261104"/>
          </a:xfrm>
          <a:prstGeom prst="roundRect">
            <a:avLst>
              <a:gd name="adj" fmla="val 1931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pic>
        <p:nvPicPr>
          <p:cNvPr id="5" name="Image 0" descr="/tmp/cp_work2/art/immuno_hbv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3224" y="1609344"/>
            <a:ext cx="9985248" cy="400507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66928" y="5815584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6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schematic. HBsAg, anti-HBs, anti-HBc (IgM/total), and HBeAg/anti-HBe define infection stage and immunity.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IMMUNOLOGY &amp; SEROLOGY   ·   HEPATITIS B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Serologic Profiles</a:t>
            </a:r>
            <a:endParaRPr lang="en-US" sz="3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463040"/>
          <a:ext cx="11057839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4663440"/>
                <a:gridCol w="3922776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Profile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A1B9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HBsAg / anti-HBs / anti-HBc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A1B9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Interpretation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A1B9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Acute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344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HBsAg+ / – / IgM anti-HBc+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344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Acute infection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Chronic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344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HBsAg+ / – / total anti-HBc+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344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Chronic infection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Resolved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344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 / anti-HBs+ / anti-HBc+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344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Past, immune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Vaccinated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344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 / anti-HBs+ / 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344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Immunity from vaccine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Window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344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 / – / IgM anti-HBc+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344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Window period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66928" y="6016752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6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Anti-HBc distinguishes natural infection (present) from vaccination (absent); IgM anti-HBc flags acute/window.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IMMUNOLOGY &amp; SEROLOGY   ·   ALGORITHMS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HIV &amp; Syphilis Testing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17904"/>
            <a:ext cx="5346040" cy="4114800"/>
          </a:xfrm>
          <a:prstGeom prst="roundRect">
            <a:avLst>
              <a:gd name="adj" fmla="val 2000"/>
            </a:avLst>
          </a:prstGeom>
          <a:solidFill>
            <a:srgbClr val="F1E8F7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04672" y="1682496"/>
            <a:ext cx="488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A1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HIV (4TH-GENERATION ALGORITHM)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04672" y="2029968"/>
            <a:ext cx="487055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Ag/Ab combination screen detects p24 antigen + antibodies, shortening the window.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Reactive screen → HIV-1/2 antibody differentiation assay.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Discordant → HIV-1 RNA (NAAT).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NAAT detects acute infection before seroconversion.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78728" y="1517904"/>
            <a:ext cx="5346040" cy="4114800"/>
          </a:xfrm>
          <a:prstGeom prst="roundRect">
            <a:avLst>
              <a:gd name="adj" fmla="val 2000"/>
            </a:avLst>
          </a:prstGeom>
          <a:solidFill>
            <a:srgbClr val="F1E9F7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16472" y="1682496"/>
            <a:ext cx="488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A1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SYPHILIS (REVERSE ALGORITHM)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516472" y="2029968"/>
            <a:ext cx="487055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Treponemal screen (e.g., immunoassay) → reflex non-treponemal (RPR) for activity.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Discordant → second treponemal test.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Non-treponemal titers monitor treatment response.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Treponemal tests usually stay positive for life.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4A126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280160"/>
            <a:ext cx="4754880" cy="4754880"/>
          </a:xfrm>
          <a:prstGeom prst="ellipse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3931920"/>
            <a:ext cx="3108960" cy="3108960"/>
          </a:xfrm>
          <a:prstGeom prst="ellipse">
            <a:avLst/>
          </a:prstGeom>
          <a:solidFill>
            <a:srgbClr val="FFFFFF">
              <a:alpha val="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178308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1E8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566928" y="32461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50" kern="0" dirty="0">
                <a:solidFill>
                  <a:srgbClr val="F2C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THREE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66928" y="3611880"/>
            <a:ext cx="10607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Cases &amp; Board Review</a:t>
            </a:r>
            <a:endParaRPr lang="en-US" sz="3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IMMUNOLOGY &amp; SEROLOGY   ·   CASE 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1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17904"/>
            <a:ext cx="11057839" cy="2788920"/>
          </a:xfrm>
          <a:prstGeom prst="roundRect">
            <a:avLst>
              <a:gd name="adj" fmla="val 2951"/>
            </a:avLst>
          </a:prstGeom>
          <a:solidFill>
            <a:srgbClr val="F1E8F7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41248" y="1700784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VIGNETTE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41248" y="2029968"/>
            <a:ext cx="10509199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patient is HBsAg-negative, anti-HBs-positive, anti-HBc-negative.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66928" y="4553712"/>
            <a:ext cx="11057839" cy="1325880"/>
          </a:xfrm>
          <a:prstGeom prst="roundRect">
            <a:avLst>
              <a:gd name="adj" fmla="val 6207"/>
            </a:avLst>
          </a:prstGeom>
          <a:solidFill>
            <a:srgbClr val="0E3A5F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22960" y="4681728"/>
            <a:ext cx="640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1618488" y="4553712"/>
            <a:ext cx="9686239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this profile indicate?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IMMUNOLOGY &amp; SEROLOGY   ·   CASE 1  ·  RESOLUTION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1: Vaccine Immunity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554480"/>
            <a:ext cx="6413547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Anti-HBs positive with anti-HBc negative indicates immunity from vaccination, not past infection.</a:t>
            </a:r>
            <a:endParaRPr lang="en-US" sz="140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infection produces anti-HBc; vaccination does not.</a:t>
            </a:r>
            <a:endParaRPr lang="en-US" sz="140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HBsAg negative excludes active infection.</a:t>
            </a:r>
            <a:endParaRPr lang="en-US" sz="140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further action beyond documenting immunity.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422788" y="1554480"/>
            <a:ext cx="4201979" cy="3977640"/>
          </a:xfrm>
          <a:prstGeom prst="roundRect">
            <a:avLst>
              <a:gd name="adj" fmla="val 2069"/>
            </a:avLst>
          </a:prstGeom>
          <a:solidFill>
            <a:srgbClr val="F1E8F7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660532" y="1755648"/>
            <a:ext cx="374477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TEACHING POINT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660532" y="2121408"/>
            <a:ext cx="3726491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Anti-HBc is the key discriminator: present after natural infection, absent after vaccination.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IMMUNOLOGY &amp; SEROLOGY   ·   CASE 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2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17904"/>
            <a:ext cx="11057839" cy="2788920"/>
          </a:xfrm>
          <a:prstGeom prst="roundRect">
            <a:avLst>
              <a:gd name="adj" fmla="val 2951"/>
            </a:avLst>
          </a:prstGeom>
          <a:solidFill>
            <a:srgbClr val="F1E8F7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41248" y="1700784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VIGNETTE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41248" y="2029968"/>
            <a:ext cx="10509199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high-risk patient has a negative HIV antibody test days after a likely exposure but ongoing concern for acute infection.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66928" y="4553712"/>
            <a:ext cx="11057839" cy="1325880"/>
          </a:xfrm>
          <a:prstGeom prst="roundRect">
            <a:avLst>
              <a:gd name="adj" fmla="val 6207"/>
            </a:avLst>
          </a:prstGeom>
          <a:solidFill>
            <a:srgbClr val="0E3A5F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22960" y="4681728"/>
            <a:ext cx="640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1618488" y="4553712"/>
            <a:ext cx="9686239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testing is appropriate, and why?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IMMUNOLOGY &amp; SEROLOGY   ·   CASE 2  ·  RESOLUTION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2: Acute HIV / Window Period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554480"/>
            <a:ext cx="6413547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Antibody may be negative in the window; use a 4th-generation Ag/Ab assay and/or HIV RNA (NAAT).</a:t>
            </a:r>
            <a:endParaRPr lang="en-US" sz="140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p24 antigen and RNA detect infection before seroconversion.</a:t>
            </a:r>
            <a:endParaRPr lang="en-US" sz="140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negative antibody test alone does not exclude acute HIV.</a:t>
            </a:r>
            <a:endParaRPr lang="en-US" sz="140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testing per algorithm.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422788" y="1554480"/>
            <a:ext cx="4201979" cy="3977640"/>
          </a:xfrm>
          <a:prstGeom prst="roundRect">
            <a:avLst>
              <a:gd name="adj" fmla="val 2069"/>
            </a:avLst>
          </a:prstGeom>
          <a:solidFill>
            <a:srgbClr val="F1E8F7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660532" y="1755648"/>
            <a:ext cx="374477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TEACHING POINT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660532" y="2121408"/>
            <a:ext cx="3726491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Suspected acute HIV requires antigen/NAAT testing — antibody-only testing misses the window period.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IMMUNOLOGY &amp; SEROLOGY   ·   CASE 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3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17904"/>
            <a:ext cx="11057839" cy="2788920"/>
          </a:xfrm>
          <a:prstGeom prst="roundRect">
            <a:avLst>
              <a:gd name="adj" fmla="val 2951"/>
            </a:avLst>
          </a:prstGeom>
          <a:solidFill>
            <a:srgbClr val="F1E8F7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41248" y="1700784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VIGNETTE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41248" y="2029968"/>
            <a:ext cx="10509199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treponemal screen is positive but the RPR is non-reactive in a patient with no symptoms.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66928" y="4553712"/>
            <a:ext cx="11057839" cy="1325880"/>
          </a:xfrm>
          <a:prstGeom prst="roundRect">
            <a:avLst>
              <a:gd name="adj" fmla="val 6207"/>
            </a:avLst>
          </a:prstGeom>
          <a:solidFill>
            <a:srgbClr val="0E3A5F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22960" y="4681728"/>
            <a:ext cx="640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1618488" y="4553712"/>
            <a:ext cx="9686239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is this reverse-algorithm result interpreted?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IMMUNOLOGY &amp; SEROLOGY   ·   CASE 3  ·  RESOLUTION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3: Reverse Syphilis Algorithm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554480"/>
            <a:ext cx="6413547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positive treponemal test with non-reactive RPR suggests past/treated syphilis or, occasionally, very early or a false-positive screen.</a:t>
            </a:r>
            <a:endParaRPr lang="en-US" sz="140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second treponemal test resolves discordance.</a:t>
            </a:r>
            <a:endParaRPr lang="en-US" sz="140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Treponemal tests typically remain reactive lifelong.</a:t>
            </a:r>
            <a:endParaRPr lang="en-US" sz="140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Correlate with history and treatment records.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422788" y="1554480"/>
            <a:ext cx="4201979" cy="3977640"/>
          </a:xfrm>
          <a:prstGeom prst="roundRect">
            <a:avLst>
              <a:gd name="adj" fmla="val 2069"/>
            </a:avLst>
          </a:prstGeom>
          <a:solidFill>
            <a:srgbClr val="F1E8F7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660532" y="1755648"/>
            <a:ext cx="374477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TEACHING POINT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660532" y="2121408"/>
            <a:ext cx="3726491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reverse algorithm, treponemal-positive/RPR-negative usually means past or treated infection; confirm with a second treponemal assay.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IMMUNOLOGY &amp; SEROLOGY   ·   BOARD REVIEW  ·  Q1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Board-Style Review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1417320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marker distinguishes natural hepatitis B infection from vaccination?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58368" y="2395728"/>
            <a:ext cx="619239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HBsAg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Anti-HBs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4A1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Anti-HBc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HBeAg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ALT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7201632" y="2395728"/>
            <a:ext cx="4423136" cy="3246120"/>
          </a:xfrm>
          <a:prstGeom prst="roundRect">
            <a:avLst>
              <a:gd name="adj" fmla="val 2535"/>
            </a:avLst>
          </a:prstGeom>
          <a:solidFill>
            <a:srgbClr val="F1E8F7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439376" y="2578608"/>
            <a:ext cx="3965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 </a:t>
            </a:r>
            <a:pPr indent="0" marL="0">
              <a:buNone/>
            </a:pPr>
            <a:r>
              <a:rPr lang="en-US" sz="15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— Anti-HBc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439376" y="3127248"/>
            <a:ext cx="394764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Anti-HBc develops after natural infection but not after vaccination; anti-HBs alone can result from either.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IMMUNOLOGY &amp; SEROLOGY   ·   BOARD REVIEW  ·  Q2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Board-Style Review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1417320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During the window period of an infection, the best test is often: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58368" y="2395728"/>
            <a:ext cx="619239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IgG antibody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IgM antibody only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4A1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Antigen or nucleic acid detection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Avidity testing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No testing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7201632" y="2395728"/>
            <a:ext cx="4423136" cy="3246120"/>
          </a:xfrm>
          <a:prstGeom prst="roundRect">
            <a:avLst>
              <a:gd name="adj" fmla="val 2535"/>
            </a:avLst>
          </a:prstGeom>
          <a:solidFill>
            <a:srgbClr val="F1E8F7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439376" y="2578608"/>
            <a:ext cx="3965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 </a:t>
            </a:r>
            <a:pPr indent="0" marL="0">
              <a:buNone/>
            </a:pPr>
            <a:r>
              <a:rPr lang="en-US" sz="15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— Antigen or NAAT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439376" y="3127248"/>
            <a:ext cx="394764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Antibodies may be undetectable early; antigen and nucleic acid tests detect infection during the window.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8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IMMUNOLOGY &amp; SEROLOGY   ·   BOARD REVIEW  ·  Q3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Board-Style Review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1417320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standard HIV algorithm, a reactive Ag/Ab screen is followed by: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58368" y="2395728"/>
            <a:ext cx="619239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Repeat the same screen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4A1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HIV-1/2 antibody differentiation assay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CD4 count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Western blot only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Viral culture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7201632" y="2395728"/>
            <a:ext cx="4423136" cy="3246120"/>
          </a:xfrm>
          <a:prstGeom prst="roundRect">
            <a:avLst>
              <a:gd name="adj" fmla="val 2535"/>
            </a:avLst>
          </a:prstGeom>
          <a:solidFill>
            <a:srgbClr val="F1E8F7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439376" y="2578608"/>
            <a:ext cx="3965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 </a:t>
            </a:r>
            <a:pPr indent="0" marL="0">
              <a:buNone/>
            </a:pPr>
            <a:r>
              <a:rPr lang="en-US" sz="15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— HIV-1/2 differentiation assay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439376" y="3127248"/>
            <a:ext cx="394764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reactive 4th-generation screen reflexes to an antibody differentiation assay; discordance prompts HIV-1 RNA.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8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IMMUNOLOGY &amp; SEROLOGY   ·   BOARD REVIEW  ·  Q4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Board-Style Review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1417320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Non-treponemal titers (e.g., RPR) are primarily used to: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58368" y="2395728"/>
            <a:ext cx="619239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Confirm lifelong infection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4A1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Monitor disease activity and treatment response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Detect the window period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Replace treponemal testing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Diagnose neurosyphilis alone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7201632" y="2395728"/>
            <a:ext cx="4423136" cy="3246120"/>
          </a:xfrm>
          <a:prstGeom prst="roundRect">
            <a:avLst>
              <a:gd name="adj" fmla="val 2535"/>
            </a:avLst>
          </a:prstGeom>
          <a:solidFill>
            <a:srgbClr val="F1E8F7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439376" y="2578608"/>
            <a:ext cx="3965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 </a:t>
            </a:r>
            <a:pPr indent="0" marL="0">
              <a:buNone/>
            </a:pPr>
            <a:r>
              <a:rPr lang="en-US" sz="15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— Monitor activity/treatment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439376" y="3127248"/>
            <a:ext cx="394764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Non-treponemal titers fall with successful treatment; treponemal tests usually remain reactive for life.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8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A2A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IMMUNOLOGY &amp; SEROLOGY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0972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Take-Home Points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17904"/>
            <a:ext cx="11057839" cy="841248"/>
          </a:xfrm>
          <a:prstGeom prst="roundRect">
            <a:avLst>
              <a:gd name="adj" fmla="val 7609"/>
            </a:avLst>
          </a:prstGeom>
          <a:solidFill>
            <a:srgbClr val="143651"/>
          </a:solidFill>
          <a:ln/>
        </p:spPr>
      </p:sp>
      <p:sp>
        <p:nvSpPr>
          <p:cNvPr id="5" name="Shape 3"/>
          <p:cNvSpPr/>
          <p:nvPr/>
        </p:nvSpPr>
        <p:spPr>
          <a:xfrm>
            <a:off x="749808" y="1755648"/>
            <a:ext cx="365760" cy="365760"/>
          </a:xfrm>
          <a:prstGeom prst="ellipse">
            <a:avLst/>
          </a:prstGeom>
          <a:solidFill>
            <a:srgbClr val="6A1B9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49808" y="17556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280160" y="1517904"/>
            <a:ext cx="10143439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E7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IgM suggests recent infection; IgG indicates past exposure/immunity; a 4-fold IgG rise confirms seroconversion.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66928" y="2505456"/>
            <a:ext cx="11057839" cy="841248"/>
          </a:xfrm>
          <a:prstGeom prst="roundRect">
            <a:avLst>
              <a:gd name="adj" fmla="val 7609"/>
            </a:avLst>
          </a:prstGeom>
          <a:solidFill>
            <a:srgbClr val="143651"/>
          </a:solidFill>
          <a:ln/>
        </p:spPr>
      </p:sp>
      <p:sp>
        <p:nvSpPr>
          <p:cNvPr id="9" name="Shape 7"/>
          <p:cNvSpPr/>
          <p:nvPr/>
        </p:nvSpPr>
        <p:spPr>
          <a:xfrm>
            <a:off x="749808" y="2743200"/>
            <a:ext cx="365760" cy="365760"/>
          </a:xfrm>
          <a:prstGeom prst="ellipse">
            <a:avLst/>
          </a:prstGeom>
          <a:solidFill>
            <a:srgbClr val="6A1B9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49808" y="2743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280160" y="2505456"/>
            <a:ext cx="10143439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E7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window period is antibody-negative — antigen/NAAT detect early infection; a negative antibody test does not exclude acute disease.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66928" y="3493008"/>
            <a:ext cx="11057839" cy="841248"/>
          </a:xfrm>
          <a:prstGeom prst="roundRect">
            <a:avLst>
              <a:gd name="adj" fmla="val 7609"/>
            </a:avLst>
          </a:prstGeom>
          <a:solidFill>
            <a:srgbClr val="143651"/>
          </a:solidFill>
          <a:ln/>
        </p:spPr>
      </p:sp>
      <p:sp>
        <p:nvSpPr>
          <p:cNvPr id="13" name="Shape 11"/>
          <p:cNvSpPr/>
          <p:nvPr/>
        </p:nvSpPr>
        <p:spPr>
          <a:xfrm>
            <a:off x="749808" y="3730752"/>
            <a:ext cx="365760" cy="365760"/>
          </a:xfrm>
          <a:prstGeom prst="ellipse">
            <a:avLst/>
          </a:prstGeom>
          <a:solidFill>
            <a:srgbClr val="6A1B9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49808" y="37307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280160" y="3493008"/>
            <a:ext cx="10143439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E7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Hepatitis B: anti-HBc separates natural infection from vaccination; IgM anti-HBc flags acute/window.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66928" y="4480560"/>
            <a:ext cx="11057839" cy="841248"/>
          </a:xfrm>
          <a:prstGeom prst="roundRect">
            <a:avLst>
              <a:gd name="adj" fmla="val 7609"/>
            </a:avLst>
          </a:prstGeom>
          <a:solidFill>
            <a:srgbClr val="143651"/>
          </a:solidFill>
          <a:ln/>
        </p:spPr>
      </p:sp>
      <p:sp>
        <p:nvSpPr>
          <p:cNvPr id="17" name="Shape 15"/>
          <p:cNvSpPr/>
          <p:nvPr/>
        </p:nvSpPr>
        <p:spPr>
          <a:xfrm>
            <a:off x="749808" y="4718304"/>
            <a:ext cx="365760" cy="365760"/>
          </a:xfrm>
          <a:prstGeom prst="ellipse">
            <a:avLst/>
          </a:prstGeom>
          <a:solidFill>
            <a:srgbClr val="6A1B9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49808" y="47183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280160" y="4480560"/>
            <a:ext cx="10143439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E7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HIV uses a 4th-generation Ag/Ab screen → differentiation assay → RNA; syphilis uses screen-then-confirm with non-treponemal titers for monitoring.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566928" y="5468112"/>
            <a:ext cx="11057839" cy="841248"/>
          </a:xfrm>
          <a:prstGeom prst="roundRect">
            <a:avLst>
              <a:gd name="adj" fmla="val 7609"/>
            </a:avLst>
          </a:prstGeom>
          <a:solidFill>
            <a:srgbClr val="143651"/>
          </a:solidFill>
          <a:ln/>
        </p:spPr>
      </p:sp>
      <p:sp>
        <p:nvSpPr>
          <p:cNvPr id="21" name="Shape 19"/>
          <p:cNvSpPr/>
          <p:nvPr/>
        </p:nvSpPr>
        <p:spPr>
          <a:xfrm>
            <a:off x="749808" y="5705856"/>
            <a:ext cx="365760" cy="365760"/>
          </a:xfrm>
          <a:prstGeom prst="ellipse">
            <a:avLst/>
          </a:prstGeom>
          <a:solidFill>
            <a:srgbClr val="6A1B9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49808" y="57058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280160" y="5468112"/>
            <a:ext cx="10143439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E7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Screen-then-confirm algorithms protect predictive value, especially at low prevalence.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E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11002975" y="647395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8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IMMUNOLOGY &amp; SEROLOGY   ·   REFERENCES &amp; FURTHER READING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481328"/>
            <a:ext cx="11057839" cy="4828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 Detrick B, et al. Manual of Molecular and Clinical Laboratory Immunology, 8th ed.</a:t>
            </a:r>
            <a:endParaRPr lang="en-US" sz="115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 CDC/APHL HIV and syphilis testing algorithms.</a:t>
            </a:r>
            <a:endParaRPr lang="en-US" sz="115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 AASLD hepatitis B guidance.</a:t>
            </a:r>
            <a:endParaRPr lang="en-US" sz="115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 Theel ES, et al. Serologic testing. Clin Microbiol Rev.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Infectious Disease Serology</dc:title>
  <dc:subject>PptxGenJS Presentation</dc:subject>
  <dc:creator>Makassed General Hospital — Department of Laboratory Medicine</dc:creator>
  <cp:lastModifiedBy>Makassed General Hospital — Department of Laboratory Medicine</cp:lastModifiedBy>
  <cp:revision>1</cp:revision>
  <dcterms:created xsi:type="dcterms:W3CDTF">2026-06-28T07:02:53Z</dcterms:created>
  <dcterms:modified xsi:type="dcterms:W3CDTF">2026-06-28T07:02:53Z</dcterms:modified>
</cp:coreProperties>
</file>