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95" r:id="rId46"/>
    <p:sldId id="287" r:id="rId33"/>
    <p:sldId id="294" r:id="rId45"/>
    <p:sldId id="288" r:id="rId34"/>
    <p:sldId id="293" r:id="rId44"/>
    <p:sldId id="289" r:id="rId35"/>
    <p:sldId id="292" r:id="rId43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AD1457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AD1457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AD1457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AD145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·  LECTURE 1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ABO/Rh, Antibody Screen &amp; Compatibility Testing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Foundations of Safe Transfusion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blood group with naturally occurring antibodies — an incompatible unit can kill within minutes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&amp; Screen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ABO/Rh + antibody screen: the safety gate before any crossmatch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Clerical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Misidentification, not serology, causes most fatal ABO incompatibilities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Pretransfusion testing exists to answer one question safely: can this unit be given to this patient? It rests on ABO/Rh typing, the antibody screen, and the crossmatch — backed by relentless attention to patient and sample identity.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 antibodies are IgM, naturally occurring, and complement-fixing — which is why ABO-incompatible transfusion produces acute intravascular hemolysis.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LECTURE 1 OF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ABO genetics, the H antigen, subgroups, and Landsteiner’s rule.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and interpret forward and reverse ABO typing, and resolve discrepancies.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Rh(D) typing, weak D, and partial D and their testing implications.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the type-and-screen workflow and the basis of antibody detection.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immediate-spin, antiglobulin, and electronic crossmatch.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emergency-release and component-selection rules safely.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 &amp; H antigen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genetics, antigens, antibodies, subgroups, Bombay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system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D, C, c, E, e; weak D and partial 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Pretransfusion testing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type &amp; screen; the detection principle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 &amp; crossmatch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immediate-spin, AHG, electronic; emergency release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discrepancies, weak D, emergency release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ABO, H Antigen &amp; Rh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ABO 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ABO Blood Groups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72388" y="1481328"/>
            <a:ext cx="964692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abo_grou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0404" y="1609344"/>
            <a:ext cx="9390888" cy="3858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66928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Each group expresses specific antigens on the red cell and the reciprocal antibodies in plasma.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ABO 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 Antigens and the H Precursor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GENETICS &amp; ANTIGENS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and B genes encode glycosyltransferases that add sugars to the H antigen precursor.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 antigen (from the FUT1 gene) is the substrate; O individuals have unmodified H.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vs A2 subgroups differ in antigen quantity and branching; A2 can have anti-A1.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ABH antigens are also secreted (secretors) and are enzyme-enhanced (carbohydrate antigens).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BOMBAY PHENOTYPE (OH)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H antigen (hh) → cannot make A or B even if A/B genes are present.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as group O on forward typing but has potent anti-H (plus anti-A, anti-B).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Compatible ONLY with other Bombay units — not with ordinary group O.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classic discrepancy trap: 'O' patient incompatible with O donor cells.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ABO 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 Antibodies and Forward/Reverse Typing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ANTIBODIES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Naturally occurring, IgM, complement-fixing — the exception to most blood-bank antibodies.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Anti-A in group B; anti-B in group A; anti-A, anti-B, and anti-A,B in group O.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after the first few months of life (so neonatal reverse typing is unreliable).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immediate intravascular hemolysis if mismatched.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CONFIRMATION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typing: patient cells + reagent anti-A and anti-B.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typing: patient plasma + reagent A1 and B cells.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must agree — forward and reverse are an internal cross-check (Landsteiner’s rule).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mismatch between them is an 'ABO discrepancy' that must be resolved before transfusion.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ABO 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Resolving ABO Discrepancies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64508"/>
                <a:gridCol w="4064508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causes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/ weak reverse reaction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Neonates / elderly, hypogammaglobulinemia, immunosuppression, subgroups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Incubate at room temp / 4°C, enhance, check history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reverse reaction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autoantibody, anti-A1 in A2/A2B, alloantibody, rouleaux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Prewarm, saline replacement, antigen typing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/ missing forward reaction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 subgroups (A2, A3), leukemia (weakened antigens), recent ABO-mismatched transplant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incubation, molecular / history 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Mixed-field forward reaction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Recent ABO-mismatched transfusion or transplant, chimerism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Transfusion / transplant history; repeat sample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reconcile a discrepancy with the patient’s clinical history; never release ABO-typed units until it is resolved — use group O red cells if urgent.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Rh 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Rh: The Most Immunogenic Protein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21247" y="1554480"/>
            <a:ext cx="530352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dat_i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0975" y="1664208"/>
            <a:ext cx="5084064" cy="17556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21247" y="358444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antibodies are IgG — detected at the AHG / IAT phase.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66928" y="1554480"/>
            <a:ext cx="5297119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principal antigens: D, C, c, E, e. D is by far the most immunogenic.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antibodies are IgG, immune (not naturally occurring), and react at 37°C / AHG.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delayed and acute hemolytic transfusion reactions and HDFN.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Rh-negative patients should receive Rh-negative red cells, especially females of childbearing potential.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C/c/E/e show dosage; D does not.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Anti-D is preventable with Rh immune globulin (Lecture 5).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Rh 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D and Partial 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QUANTITY of otherwise complete D antigen; reacts weakly, often only at AHG.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weak-D types (1, 2, 3) do not make anti-D and can receive Rh-positive blood.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Historically detected by the 'weak D test' (D typing carried to the AHG phase).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RHD genotyping increasingly guides management.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PORTIONS (epitopes) of the D antigen — a qualitative defect.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Partial-D individuals CAN form anti-D against the missing epitopes.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Safe-side rule: treat PATIENTS as Rh-NEGATIVE when D status is uncertain; treat DONORS as Rh-POSITIVE.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avoids both alloimmunization (patients) and missing D-positive units (donors).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Pretransfusion Testing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PRETRANSFUSION TESTING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Type-and-Screen Workflow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2514600" cy="1188720"/>
          </a:xfrm>
          <a:prstGeom prst="roundRect">
            <a:avLst>
              <a:gd name="adj" fmla="val 5385"/>
            </a:avLst>
          </a:prstGeom>
          <a:solidFill>
            <a:srgbClr val="AD1457"/>
          </a:solidFill>
          <a:ln w="15875">
            <a:solidFill>
              <a:srgbClr val="AD1457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1828800"/>
            <a:ext cx="2404872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&amp; sample identity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safety foundation)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099816" y="2423160"/>
            <a:ext cx="296570" cy="0"/>
          </a:xfrm>
          <a:prstGeom prst="line">
            <a:avLst/>
          </a:prstGeom>
          <a:noFill/>
          <a:ln w="22225">
            <a:solidFill>
              <a:srgbClr val="AD145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14674" y="1828800"/>
            <a:ext cx="251460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5875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69538" y="1828800"/>
            <a:ext cx="2404872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 / Rh typing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+ reverse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47562" y="2423160"/>
            <a:ext cx="296570" cy="0"/>
          </a:xfrm>
          <a:prstGeom prst="line">
            <a:avLst/>
          </a:prstGeom>
          <a:noFill/>
          <a:ln w="22225">
            <a:solidFill>
              <a:srgbClr val="AD145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262421" y="1828800"/>
            <a:ext cx="251460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5875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17285" y="1828800"/>
            <a:ext cx="2404872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 screen (IAT)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reagent screening cells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795309" y="2423160"/>
            <a:ext cx="296570" cy="0"/>
          </a:xfrm>
          <a:prstGeom prst="line">
            <a:avLst/>
          </a:prstGeom>
          <a:noFill/>
          <a:ln w="22225">
            <a:solidFill>
              <a:srgbClr val="AD145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10167" y="1828800"/>
            <a:ext cx="251460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5875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65031" y="1828800"/>
            <a:ext cx="2404872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Crossmatch / release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or serologic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429000"/>
            <a:ext cx="11057839" cy="960120"/>
          </a:xfrm>
          <a:prstGeom prst="roundRect">
            <a:avLst>
              <a:gd name="adj" fmla="val 8571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41248" y="3429000"/>
            <a:ext cx="1050919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3-day rule:  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specimen is required within 3 days when the patient has been transfused or pregnant in the previous 3 months — a new antibody may have formed since the last sample.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45720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'Wrong blood in tube' is a preventable, potentially fatal error — positive patient identification at collection is non-negotiable.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services require a second independent ABO determination before issuing non-O red cells.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DETECTION PRINCIPLE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Antibodies Are Detected: Agglutination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72388" y="1481328"/>
            <a:ext cx="964692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agglutin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0404" y="1609344"/>
            <a:ext cx="9390888" cy="3858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66928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IgM agglutinates directly (immediate spin); IgG is detected only after anti-human globulin bridges sensitized cells (AHG / IAT phase).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PRETRANSFUSION TESTING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Antibody Screen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plasma tested against 2–3 reagent screening cells of known antigen profile by IAT.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clinically significant, unexpected alloantibodies before they meet donor antigen.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at 37°C / AHG = clinically significant; pursue identification (Lecture 2).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screen permits an electronic or immediate-spin crossmatch in eligible patients.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TO RESPECT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detect antibodies to LOW-frequency antigens absent from the screening cells.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Dosage can weaken detection of some antibodies on heterozygous screen cells.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Evanescent antibodies (e.g., Kidd) may fall below detection — honor the antibody history.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screen does not replace the clerical and identity checks.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 &amp; Crossmatch</a:t>
            </a:r>
            <a:endParaRPr lang="en-US" sz="3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COMPATIBILITY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Crossmatch Methods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55948"/>
                <a:gridCol w="4155948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confirms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 spin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 compatibility between recipient plasma and donor cells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antibody screen, no antibody history (serologic ABO check)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Antiglobulin (AHG) crossmatch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IgG antibodies against donor cells (full serologic compatibility)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antibody screen now or a history of clinically significant antibodies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Electronic (computer) crossmatch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 compatibility verified by validated computer logic — no serologic 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concordant ABO determinations + current negative screen + no antibody history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crossmatch never replaces the antibody screen; it is the final compatibility check between a specific unit and the recipient.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COMPATIBILITY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Crossmatch &amp; Emergency Release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CROSSMATCH CRITERIA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sample with a NEGATIVE antibody screen and no history of significant antibodies.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concordant ABO/Rh determinations on the patient (often two samples or two methods).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computer system that blocks ABO-incompatible assignments.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reliable for the large majority of patients.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RELEASE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transfusion cannot wait for testing, issue uncrossmatched group O red cells.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Rh-NEGATIVE for females of childbearing potential; O Rh-positive is acceptable for others to conserve O-negative stock.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plasma is the universal plasma for emergency release.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clinical authorization; complete testing on the sample retrospectively.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COMPATIBILITY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 Compatibility — Red Cells and Plasma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38828"/>
                <a:gridCol w="4338828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Recipient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Compatible red cells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Compatible plasma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O, A, B, AB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AB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B, 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B, AB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B, AB, O  (universal RBC recipient)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only  (AB is the universal plasma donor)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cells and plasma are mirror images: group O is the universal red-cell donor; group AB is the universal plasma donor.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Special Situations</a:t>
            </a:r>
            <a:endParaRPr lang="en-US" sz="3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SAFETY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Identity Chain — Where Fatal Errors Happen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BLOOD IN TUBE (WBIT)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fatal ABO-incompatible transfusions stem from misidentification, not serologic error.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cluster at collection (mislabeled tube) and at the bedside (wrong patient).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patient identification at draw and at issue is mandatory.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independent ABO check reduces WBIT risk before non-O units are issued.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SPECIMEN RULES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at the bedside, from the patient’s wristband, at the time of draw.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3-day specimen validity if transfused/pregnant in the last 3 months.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mislabeled or unlabeled samples — no exceptions for blood bank specimens.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Hemolyzed or clotted samples may compromise testing.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SAFETY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Neonatal and Special Selection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NEONATAL TRANSFUSION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typing is unreliable in neonates — ABO antibodies are not yet produced.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Antibodies present are maternal; test maternal/neonatal plasma as appropriate.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 red cells are commonly selected for small neonatal transfusions.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requirements (irradiated, CMV-safe) are covered in Lecture 5.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 DOUBT, GROUP 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Unresolved ABO discrepancy or emergent need → group O red cells.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Rh-negative red cells when Rh status is uncertain in a female of childbearing potential.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plasma when plasma group is unknown and transfusion is urgent.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the discrepancy in parallel — do not delay life-saving transfusion.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84-year-old man types as group A on forward typing (cells react with anti-A, not anti-B), but his plasma reacts with neither A1 nor B reagent cells on reverse typing. He has no transfusion history.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ABO discrepancy is this, what is the likely cause, and how do you work it up?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Missing Reverse Reaction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(group A) and reverse (no antibodies) disagree — a missing/weak reverse reaction.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elderly (and in immunodeficiency or immunosuppression), ABO isoagglutinin titers fall and reverse reactions weaken.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Work-up: incubate the reverse type at room temperature or 4°C to enhance weak IgM, and review history.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transfusion is needed before resolution, give group O red cells.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Weak/absent reverse reactions are common at the extremes of age and in immunocompromise; enhancement techniques usually recover the expected antibody.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pregnant patient types Rh(D)-negative on immediate spin, but the D typing becomes positive at the antiglobulin phase (weak D detected). The laboratory must decide how to classify her for transfusion and Rh immune globulin.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she be treated as Rh-positive or Rh-negative, and why does the patient-vs-donor distinction matter?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Weak D — Patient vs Donor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PATIENT (recipient) with serologic weak D and uncertain status, the safe default is to treat as Rh-NEGATIVE.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means Rh-negative red cells and Rh immune globulin candidacy — avoiding anti-D alloimmunization, especially in pregnancy.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RHD genotyping can clarify: most weak-D types 1/2/3 can safely be managed as Rh-positive and do not need RhIG.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DONOR with weak D is labeled Rh-POSITIVE, so a D-positive unit is never given to an Rh-negative recipient.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= err Rh-negative (protect from anti-D); donor = err Rh-positive (protect recipients). Genotyping increasingly resolves weak-D management.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trauma patient arrives hypotensive and exsanguinating. There is no time for a type and screen, and no historical blood type is available. The team activates massive transfusion.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red cells and plasma do you release immediately, and what differs for a young woman versus an older man?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Emergency Release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uncrossmatched group O red cells immediately under emergency-release authorization.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 Rh-NEGATIVE for a female of childbearing potential to prevent anti-D and future HDFN.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Rh-positive red cells are acceptable for an older man, conserving scarce O-negative stock.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AB plasma (universal) until the ABO group is known; draw a sample and complete testing as soon as possible.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release trades serologic certainty for speed safely: group O cells + AB plasma, with Rh choice driven by childbearing potential.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SIX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an ABO-incompatible red cell transfusion capable of causing immediate, severe intravascular hemolysis?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ABO antibodies are IgG and cause extravascular clearance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ABO antibodies are naturally occurring IgM that fix complement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ABO antigens are poorly expressed on red cells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ABO antibodies require AHG to react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ABO antibodies only cause delayed reactions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types as group O on forward typing but is incompatible with all group O donor units and has anti-H. What is the explanation?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Subgroup A2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Acquired B phenotype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Bombay phenotype (Oh)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Cold autoantibody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Rouleaux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recipient sample shows serologic weak D of uncertain type. How should the patient be managed for transfusion?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As Rh-positive; give Rh-positive units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As Rh-negative; give Rh-negative units and consider RhIG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 Rh consideration is needed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Give only AB plasma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Withhold all transfusion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combination is correct for emergency release before a type and screen is available?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Group AB red cells and group O plasma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Group O red cells and group AB plasma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Group A red cells and group A plasma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Patient must wait for full crossmatch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Group O plasma and group AB red cells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676656"/>
          </a:xfrm>
          <a:prstGeom prst="roundRect">
            <a:avLst>
              <a:gd name="adj" fmla="val 945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73352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 antibodies are naturally occurring, IgM, complement-fixing — ABO identity is the most safety-critical step in transfusion.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340864"/>
            <a:ext cx="11057839" cy="676656"/>
          </a:xfrm>
          <a:prstGeom prst="roundRect">
            <a:avLst>
              <a:gd name="adj" fmla="val 945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496312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496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340864"/>
            <a:ext cx="101434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and reverse typing must agree; an ABO discrepancy must be resolved before non-O units are released (use group O if urgent).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63824"/>
            <a:ext cx="11057839" cy="676656"/>
          </a:xfrm>
          <a:prstGeom prst="roundRect">
            <a:avLst>
              <a:gd name="adj" fmla="val 945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319272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319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163824"/>
            <a:ext cx="101434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Rh(D) is the most immunogenic protein antigen; treat weak-D patients as Rh-negative and weak-D donors as Rh-positive.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3986784"/>
            <a:ext cx="11057839" cy="676656"/>
          </a:xfrm>
          <a:prstGeom prst="roundRect">
            <a:avLst>
              <a:gd name="adj" fmla="val 945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142232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142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3986784"/>
            <a:ext cx="101434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&amp; screen + crossmatch: a negative screen permits electronic/immediate-spin crossmatch; a positive screen mandates an AHG crossmatch.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09744"/>
            <a:ext cx="11057839" cy="676656"/>
          </a:xfrm>
          <a:prstGeom prst="roundRect">
            <a:avLst>
              <a:gd name="adj" fmla="val 945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4965192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4965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4809744"/>
            <a:ext cx="101434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fatal ABO incompatibilities are clerical — positive patient/sample identification and the 3-day rule are non-negotiable.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5632704"/>
            <a:ext cx="11057839" cy="676656"/>
          </a:xfrm>
          <a:prstGeom prst="roundRect">
            <a:avLst>
              <a:gd name="adj" fmla="val 945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49808" y="5788152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49808" y="5788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280160" y="5632704"/>
            <a:ext cx="101434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release: group O red cells (O-negative for childbearing-potential females) plus AB plasma.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Cohn CS, et al. (eds). AABB Technical Manual, 20th ed. AABB Press, 2020 (ABO/H, Rh, pretransfusion testing).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Fung MK, et al. (eds). AABB Standards for Blood Banks and Transfusion Services (current edition).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Harmening DM. Modern Blood Banking &amp; Transfusion Practices, 7th ed. F.A. Davis, 2019 (Ch. 6, 7, 10, 11).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Sandler SG, et al. It’s time to phase in RHD genotyping for patients with a serologic weak D phenotype. Transfusion. 2015;55:680–689.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combination is correct for emergency release before a type and screen is available?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Group AB red cells and group O plasma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Group O red cells and group AB plasma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Group A red cells and group A plasma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Patient must wait for full crossmatch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Group O plasma and group AB red cells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Group O red cells and AB plasma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 is the universal red-cell donor and AB is the universal plasma donor. Use O-negative red cells for females of childbearing potential; O-positive is acceptable otherwise.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recipient sample shows serologic weak D of uncertain type. How should the patient be managed for transfusion?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As Rh-positive; give Rh-positive units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As Rh-negative; give Rh-negative units and consider RhIG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 Rh consideration is needed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Give only AB plasma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Withhold all transfusion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Treat the patient as Rh-negative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recipients, serologic weak D of uncertain type is managed as Rh-negative to avoid anti-D alloimmunization; RHD genotyping can reclassify many as Rh-positive. Donors with weak D are labeled Rh-positive.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types as group O on forward typing but is incompatible with all group O donor units and has anti-H. What is the explanation?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Subgroup A2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Acquired B phenotype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Bombay phenotype (Oh)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Cold autoantibody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Rouleaux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Bombay phenotype (Oh)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Bombay individuals lack H antigen (hh) and make potent anti-H, so they appear group O but are incompatible with ordinary O cells and require Bombay units.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an ABO-incompatible red cell transfusion capable of causing immediate, severe intravascular hemolysis?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ABO antibodies are IgG and cause extravascular clearance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ABO antibodies are naturally occurring IgM that fix complement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ABO antigens are poorly expressed on red cells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ABO antibodies require AHG to react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ABO antibodies only cause delayed reactions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Naturally occurring IgM that fix complement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 antibodies are IgM, present without prior exposure, and activate the full complement cascade — producing acute intravascular hemolysis. This is why ABO identity is the most safety-critical step.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ABO/Rh, Antibody Screen, and Compatibility Testing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2026-06-28T05:59:39Z</dcterms:created>
  <dcterms:modified xsi:type="dcterms:W3CDTF">2026-06-28T05:59:39Z</dcterms:modified>
</cp:coreProperties>
</file>