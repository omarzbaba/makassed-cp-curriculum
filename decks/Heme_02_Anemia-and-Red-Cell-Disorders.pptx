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C62133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C62133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C62133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C62133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·  LECTURE 2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Anemia Workup &amp; Red Cell Disorders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Algorithms, Iron Studies, Hemoglobinopathies, and Hemolysis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Splits anemia into micro-, normo-, and macrocytic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Retic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production failure from loss/destruction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RDW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the quickest clue: iron deficiency vs thalassemia trait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disciplined MCV-and-reticulocyte approach turns a long differential into a short, testable list — and prevents the classic error of iron-treating a thalassemia trait.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Hemolysis is a pattern, not one test: ↑LDH, ↑indirect bilirubin, ↓haptoglobin, reticulocytosis, and the DAT together.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an MCV- and reticulocyte-based algorithm to anemia.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iron studies and distinguish IDA, ACD, and thalassemia trait.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hemoglobinopathy methods (HPLC, capillary/gel electrophoresis).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up macrocytic anemia (megaloblastic vs non-megaloblastic).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a hemolysis workup and interpret the DAT.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common pitfalls, including iron-treating thalassemia trait.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anemia algorithm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MCV × reticulocyte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Microcytic anemia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iron studies; IDA/ACD/thalassemia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Hemoglobinopathy methods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HPLC, electrophoresis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Macrocytic &amp; hemolytic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megaloblastic, DAT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Anemia Algorithm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THE CORE ALGORITHM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 and the Reticulocyte Response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MCV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Microcytic (&lt;80): iron deficiency, thalassemia, ACD (some), sideroblastic.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Normocytic (80–100): ACD, renal, early IDA, hemolysis, marrow failure.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Macrocytic (&gt;100): megaloblastic, alcohol/liver, MDS, reticulocytosis, hypothyroid.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 is the first, most useful branch.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RETICULOCYTES &amp; HEMOLYSIS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Low/inappropriately normal retic → hypoproliferative; high → appropriate response (hemolysis/blood loss).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reticulocyte production index at low hematocrit.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Hemolysis pattern: ↑LDH, ↑indirect bilirubin, ↓haptoglobin, polychromasia.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identifies immune causes.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MICROCYTIC ANEMIA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Out Microcytic Anemia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70632"/>
                <a:gridCol w="2770632"/>
                <a:gridCol w="277063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 deficiency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Chronic disease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Thalassemia trait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Ferritin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 / 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Transferrin sat.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 / 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TIBC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/ normal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 / 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normal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RBC 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 / 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Mentzer (MCV/RBC)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Ferritin is the single most useful first test — but it is an acute-phase reactant and can be falsely normal in inflammation.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HEMOLYSIS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Red-Cell Morphology in Anemia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288536"/>
          </a:xfrm>
          <a:prstGeom prst="roundRect">
            <a:avLst>
              <a:gd name="adj" fmla="val 1919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heme_mor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40325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4301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Spherocytes (HS / warm AIHA), schistocytes (MAHA), bite cells (G6PD), and targets (thalassemia/liver) localize the cause.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Hemoglobinopathies, Macrocytic &amp; Hemolytic Anemia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HEMOGLOBIN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Hemoglobinopathy Methods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73068"/>
                <a:gridCol w="3973068"/>
              </a:tblGrid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Strength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Caveat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HPLC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Accurate Hb A2 and Hb F quantitation; good first-line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 S adducts interfere with Hb A2; can’t separate Hb A2′ from Hb S or Hb A2 from Hb E on most systems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Capillary electrophoresis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 variant separation; quantifies A2 / 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Complementary; some variants co-migrate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Gel / alkaline electrophoresis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Wide availability; visual screen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Borderline for measuring Hb A2 and Hb 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adult fractions: Hb A2 2.2–3.4%, Hb F &lt;2%. Elevated Hb A2 is the hallmark of β-thalassemia trait. (Dept. teaching: D. Keren, Hemoglobinopathy Evaluation.)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MACROCYTIC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Megaloblastic vs Non-Megaloblastic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MEGALOBLASTIC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B12/folate deficiency impairing DNA synthesis.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Smear: oval macrocytes and hypersegmented neutrophils.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↑LDH and ↑indirect bilirubin (ineffective erythropoiesis).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B12 deficiency may cause neuropathy; check methylmalonic acid.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NON-MEGALOBLASTIC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synthesis intact; macrocytosis from other causes.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and liver disease (round macrocytes, targets).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Myelodysplastic syndrome (dysplasia, cytopenias).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Brisk reticulocytosis; hypothyroidism; drugs.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HEMOLYTIC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Intravascular vs Extravascular and the DAT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 THE HEMOLYSIS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Intravascular: very low haptoglobin, hemoglobinuria, schistocytes (MAHA), severe ↑LDH.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Extravascular (splenic): spherocytes, milder labs.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Reticulocytosis indicates marrow response.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the LDH/haptoglobin/bilirubin pattern.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distinguishes immune causes.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AIHA: IgG ± C3, spherocytes.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agglutinin disease: C3, agglutination, anti-I.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Hereditary spherocytosis: spherocytes but DAT negative.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25-year-old man of Mediterranean descent: Hb 11.5, MCV 68 fL, RBC 6.0 × 10¹²/L, RDW 13.5% (normal), normal ferritin; oral iron has not helped.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has iron failed, what does the Mentzer index suggest, and what confirms the diagnosis?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β-Thalassemia Trait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Thalassemia trait, not iron deficiency — iron won’t help and risks overload.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Clues: marked microcytosis with mild anemia, high-normal RBC, normal RDW, normal ferritin.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Mentzer index &lt;13 favors trait.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hemoglobin analysis: elevated Hb A2 indicates β-thalassemia trait.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ferritin + normal RDW + high RBC count in a microcytic patient should stop reflexive iron and trigger hemoglobin analysis.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58-year-old woman has fatigue and jaundice. Hb 7.8, reticulocytes high, LDH high, haptoglobin low, indirect bilirubin elevated; smear shows spherocytes; DAT positive for IgG.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and mechanism from the DAT pattern?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Warm AIHA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autoimmune hemolytic anemia — IgG opsonizes red cells for splenic clearance.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hemolysis pattern is present; spherocytes reflect partial membrane removal.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positive for IgG (±C3) defines the immune mechanism.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for underlying lymphoproliferative/autoimmune disease.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Spherocytes have two classic causes — hereditary spherocytosis (DAT negative) and warm AIHA (DAT positive). The DAT separates them.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70-year-old man: Hb 9.0, MCV 116 fL, mild pancytopenia, foot paresthesias; smear shows oval macrocytes and hypersegmented neutrophils; LDH high, haptoglobin low.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diagnosis and the confirmatory test if the level is borderline?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Vitamin B12 Deficiency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Megaloblastic anemia from B12 deficiency — macrocytosis, hypersegmented neutrophils, neuropathy.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Ineffective erythropoiesis explains the high LDH and low haptoglobin (an intramedullary 'hemolysis' pattern).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pancytopenia can occur in severe deficiency.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B12 is borderline, elevated methylmalonic acid confirms deficiency.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Megaloblastic anemia can mimic hemolysis biochemically; the smear (hypersegmented neutrophils, oval macrocytes) reveals the real cause.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microcytic patient has normal RBC count, normal RDW, normal ferritin, and Mentzer &lt;13. Best next test?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trial of oral iron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Bone marrow biopsy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Hemoglobin analysis (HPLC / electrophoresis)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Serum erythropoietin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Reticulocyte count only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Hemoglobin analysis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profile fits thalassemia trait; hemoglobin analysis showing elevated Hb A2 confirms β-thalassemia trait. Empiric iron is inappropriate.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Jaundice, high reticulocytes, high LDH, low haptoglobin, spherocytes, and a DAT positive for IgG indicate: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Hereditary spherocytosis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Warm autoimmune hemolytic anemia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Microangiopathic hemolysis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G6PD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Iron deficiency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Warm AIHA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IgG-positive DAT with spherocytes indicates warm AIHA (extravascular). Hereditary spherocytosis has the same smear but a negative DAT.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Hb A2 quantified by HPLC is the laboratory hallmark of: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α-thalassemia trait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β-thalassemia trait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Sickle cell trait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Iron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Hb H disease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β-thalassemia trait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Hb A2 (normal 2.2–3.4%) marks β-thalassemia trait; HPLC quantifies it accurately, though Hb S/E can interfere and need a complementary method.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every anemia with MCV and the reticulocyte count.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ferritin proves iron deficiency; normal ferritin + normal RDW + high RBC suggests thalassemia trait — don’t reflexively give iron.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hemoglobinopathies with HPLC/electrophoresis; elevated Hb A2 marks β-thalassemia trait.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Hemolysis is a pattern (↑LDH, ↑indirect bilirubin, ↓haptoglobin, reticulocytosis), then use the DAT.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Megaloblastic anemia can biochemically mimic hemolysis; the smear reveals the cause.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Keohane EM, et al. Rodak’s Hematology, 6th ed. Elsevier, 2020.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WHO/CLSI laboratory diagnosis of hemoglobinopathies and thalassemias.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Keren DF. Protein/hemoglobin electrophoresis in clinical diagnosis.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Means RT, Glader B. Wintrobe’s Clinical Hematology — anemia (current ed.).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Anemia Workup &amp; Red Cell Disorders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2026-06-28T06:02:13Z</dcterms:created>
  <dcterms:modified xsi:type="dcterms:W3CDTF">2026-06-28T06:02:13Z</dcterms:modified>
</cp:coreProperties>
</file>