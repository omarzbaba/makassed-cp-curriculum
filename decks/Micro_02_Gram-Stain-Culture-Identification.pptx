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188720"/>
            <a:ext cx="4480560" cy="4480560"/>
          </a:xfrm>
          <a:prstGeom prst="ellipse">
            <a:avLst/>
          </a:prstGeom>
          <a:solidFill>
            <a:srgbClr val="2E7D32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2743200"/>
            <a:ext cx="2468880" cy="2468880"/>
          </a:xfrm>
          <a:prstGeom prst="ellipse">
            <a:avLst/>
          </a:prstGeom>
          <a:solidFill>
            <a:srgbClr val="2E7D32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835640" y="3611880"/>
            <a:ext cx="1143000" cy="1143000"/>
          </a:xfrm>
          <a:prstGeom prst="ellipse">
            <a:avLst/>
          </a:prstGeom>
          <a:solidFill>
            <a:srgbClr val="2E7D32">
              <a:alpha val="4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078992"/>
            <a:ext cx="5532120" cy="420624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078992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LECTURE SERIES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810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·  LECTURE 2 OF 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 Stain, Culture &amp; Identification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BF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Smear to Named Organism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66928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Tamima El-Jisr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Chairperson, Department of Laboratory Medicine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Hospital, Beirut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99855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D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Curriculum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FRAMING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13232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fastest actionable clue in bacteriology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4314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44314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MALDI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90618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spectrometry IDs colonies in minutes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1701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21701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68005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and differential media shape what grows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1248" y="36118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 begins with the Gram stain at the bedside of the bench and proceeds through culture media to definitive identification by MALDI-TOF or biochemical methods. Each step narrows the differential.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66928" y="502920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 reaction + arrangement + specimen source narrows the differential and drives the first call to the clinical team.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1969008"/>
            <a:ext cx="420624" cy="420624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80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533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Gram-stain morphology and arrangement.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79896" y="1969008"/>
            <a:ext cx="420624" cy="420624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798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651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and read selective, differential, and enriched media.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8096" y="3639312"/>
            <a:ext cx="420624" cy="420624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680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533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colony morphology and key rapid tests (catalase, coagulase, oxidase).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87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79896" y="3639312"/>
            <a:ext cx="420624" cy="420624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798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651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MALDI-TOF identification and its limits.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68096" y="5309616"/>
            <a:ext cx="420624" cy="420624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680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identification with the clinical context.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787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79896" y="5309616"/>
            <a:ext cx="420624" cy="420624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798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651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organisms that evade Gram stain or routine culture.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WHAT WE WILL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682496"/>
            <a:ext cx="384048" cy="384048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481328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 stain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morphology and arrangement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432304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633472"/>
            <a:ext cx="384048" cy="384048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2432304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media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selective/differential/enriched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49808" y="3584448"/>
            <a:ext cx="384048" cy="384048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383280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rapid tests and MALDI-TOF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535424"/>
            <a:ext cx="384048" cy="384048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98448" y="4334256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 &amp; pitfalls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non-culturable / atypical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5285232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49808" y="5486400"/>
            <a:ext cx="384048" cy="384048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5285232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5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8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Gram Stain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GRAM STAIN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Morphology Guides the Early Call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92328" y="1481328"/>
            <a:ext cx="10607040" cy="452628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pic>
        <p:nvPicPr>
          <p:cNvPr id="5" name="Image 0" descr="/tmp/cp_work2/art/micro_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0344" y="1609344"/>
            <a:ext cx="10351008" cy="42702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608076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Gram reaction plus arrangement (clusters vs chains, rods) gives an immediate, actionable differential.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GRAM STAIN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Smear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REACTION &amp; ARRANGEMENT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Gram-positive (purple) vs gram-negative (pink) reflects cell-wall peptidoglycan.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Cocci in clusters: staphylococci; in chains/pairs: strepto-/enterococci, pneumococci.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Rods: Enterobacterales, Pseudomonas (GNR); Listeria, Clostridium (GPR).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Yeast, hyphae, and host cells are also reported.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9F3E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Over-decolorization makes gram-positives appear gram-negative.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antibiotics distort morphology.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organisms stain poorly (mycobacteria, Mycoplasma, spirochetes).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correlate the smear with culture and clinical picture.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5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8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&amp; Identification</a:t>
            </a:r>
            <a:endParaRPr lang="en-US" sz="3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CULTURE MEDIA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Media and What They Reveal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11057839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468880"/>
                <a:gridCol w="44805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/ readout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Blood agar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Enriched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Hemolysis (α/β/γ)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MacConkey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Selective/differential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GNR; lactose fermentation (pink)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Chocolate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Enriched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Haemophilus, Neisseria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CNA / PEA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Gram-positives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Sabouraud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Fungi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Thayer-Martin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Pathogenic Neisseria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6016752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media suppress unwanted flora; differential media reveal a metabolic property (e.g., lactose fermentation).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IDENTIFICATION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Tests &amp; Colony Clues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 RAPID TESTS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Catalase separates staphylococci (+) from streptococci (–).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Coagulase separates S. aureus (+) from coagulase-negative staph.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Oxidase flags Pseudomonas, Neisseria, etc.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Hemolysis and colony morphology add early clues.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9F3E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MALDI-TOF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spectrometry identifies organisms by protein fingerprint within minutes of growth.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accuracy for most bacteria and yeast.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Limits: closely related species, low biomass, some mycobacteria/molds.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largely replaced lengthy biochemical panels.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INTEGRATION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Result to Meaning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 WITH THE PATIENT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identified organism must be interpreted against the source and clinical syndrome.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Sterile-site isolates carry more weight than flora-rich sites.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 and purity of growth matter.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critical Gram stains and IDs promptly.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9F3E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DISCIPLINE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Gram stain → culture → ID → susceptibility, each reported as available.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reports guide empiric therapy.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ID and AST refine to targeted therapy.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supports stewardship.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5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8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Limits, Cases &amp; Board</a:t>
            </a:r>
            <a:endParaRPr lang="en-US" sz="3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LIMITS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Organisms That Escape Routine Methods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POORLY/NON-CULTURABLE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Mycoplasma (no cell wall), Chlamydia (intracellular), spirochetes — often serology/NAAT.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Mycobacteria need acid-fast stain and special media.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Legionella needs buffered charcoal yeast extract / urine antigen.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Viruses require molecular or antigen methods.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9F3E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ESCALATE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routine cultures with ongoing infection should prompt special methods or molecular testing.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with the clinical team about the differential.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 prior antibiotics suppressing growth.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Targeted NAAT can identify the non-culturable.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CASE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blood-culture Gram stain shows gram-positive cocci in clusters. The team asks whether to broaden coverage.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the morphology suggest, and what bench test refines it?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CASE 1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GPC in Clusters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Gram-positive cocci in clusters suggest staphylococci.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Catalase (+) supports staph; coagulase/rapid S. aureus testing distinguishes S. aureus from CoNS.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aureus bacteremia is significant and prompts source evaluation.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MALDI-TOF gives a rapid definitive ID from growth.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Morphology gives the first actionable call; coagulase or rapid molecular testing then separates S. aureus from coagulase-negative staph.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CASE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urine culture on MacConkey grows pink (lactose-fermenting) colonies; the patient has cystitis.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lactose fermentation on MacConkey indicate?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CASE 2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Lactose Fermenter on MacConkey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Pink colonies on MacConkey indicate a lactose-fermenting gram-negative rod (e.g., E. coli, Klebsiella).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MacConkey is selective for GNR and differential for lactose fermentation.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coli is the most common uropathogen.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ID (MALDI-TOF) and perform susceptibility testing.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MacConkey both selects gram-negative rods and differentiates lactose fermenters (pink) from non-fermenters — an immediate clue to the organism.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CASE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with atypical pneumonia has repeatedly negative routine cultures despite clear infection.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might routine culture be negative, and what should be done?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CASE 3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3: The Non-Culturable Pathogen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Atypical agents (Mycoplasma, Chlamydia, Legionella) often do not grow on routine media.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NAAT, serology, or special media/antigen tests as appropriate.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Legionella urine antigen and respiratory NAAT panels help.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the atypical differential to the team.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routine cultures with ongoing infection should trigger special stains, media, antigen, or molecular testing for non-culturable organisms.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Catalase distinguishes which two groups of gram-positive cocci?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Staphylococci (+) from streptococci (–)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S. aureus from S. epidermidis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Group A from group B strep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Enterococci from pneumococci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Aerobes from anaerobes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— Staphylococci (+) from streptococci (–)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Catalase is positive in staphylococci and negative in streptococci; coagulase then separates S. aureus from CoNS.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Pink colonies on MacConkey agar indicate: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 gram-positive organism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 non-lactose fermenter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A lactose-fermenting gram-negative rod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A fungus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An anaerobe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Lactose-fermenting GNR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MacConkey selects gram-negative rods and turns pink with lactose fermentation (e.g., E. coli, Klebsiella).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MALDI-TOF identifies organisms primarily by: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DNA sequencing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Antibody binding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Protein mass-spectral fingerprint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Colony color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Gram reaction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Protein mass-spectral fingerprint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MALDI-TOF matches an organism’s ribosomal protein spectrum against a database for rapid identification from growth.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organism characteristically does NOT grow on standard bacterial media?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Escherichia coli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Staphylococcus aureus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Mycoplasma pneumoniae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Klebsiella pneumoniae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Pseudomonas aeruginosa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Mycoplasma pneumoniae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Mycoplasma lacks a cell wall and does not grow on routine media; diagnosis relies on serology or molecular methods.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755648"/>
            <a:ext cx="365760" cy="365760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517904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 reaction + arrangement + source gives the fastest actionable differential; beware decolorization and prior antibiotics.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505456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743200"/>
            <a:ext cx="365760" cy="365760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505456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media suppress flora; differential media reveal a property (lactose fermentation on MacConkey).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9300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3" name="Shape 11"/>
          <p:cNvSpPr/>
          <p:nvPr/>
        </p:nvSpPr>
        <p:spPr>
          <a:xfrm>
            <a:off x="749808" y="3730752"/>
            <a:ext cx="365760" cy="365760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493008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Catalase/coagulase/oxidase and MALDI-TOF move quickly from colony to named organism.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80560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718304"/>
            <a:ext cx="365760" cy="365760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718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4480560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IDs against the source and clinical syndrome; sterile-site isolates carry more weight.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5468112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21" name="Shape 19"/>
          <p:cNvSpPr/>
          <p:nvPr/>
        </p:nvSpPr>
        <p:spPr>
          <a:xfrm>
            <a:off x="749808" y="5705856"/>
            <a:ext cx="365760" cy="365760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705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5468112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Atypical and fastidious organisms escape routine culture — escalate to special stains, antigen, or NAAT.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002975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REFERENCES &amp; FURTHER READING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828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Carroll KC, et al. Manual of Clinical Microbiology, 12th ed. ASM Press.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Tille P. Bailey &amp; Scott’s Diagnostic Microbiology, 15th ed.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CLSI M07/M02 (reference methods).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Miller JM, et al. IDSA/ASM Utilization Guide. Clin Infect Dis.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Gram Stain, Culture &amp; Identification</dc:title>
  <dc:subject>PptxGenJS Presentation</dc:subject>
  <dc:creator>Makassed General Hospital — Department of Laboratory Medicine</dc:creator>
  <cp:lastModifiedBy>Makassed General Hospital — Department of Laboratory Medicine</cp:lastModifiedBy>
  <cp:revision>1</cp:revision>
  <dcterms:created xsi:type="dcterms:W3CDTF">2026-06-28T06:58:53Z</dcterms:created>
  <dcterms:modified xsi:type="dcterms:W3CDTF">2026-06-28T06:58:53Z</dcterms:modified>
</cp:coreProperties>
</file>