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1565C0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1565C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1565C0">
              <a:alpha val="4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·  LECTURE 1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 Techniques &amp; Sources of Error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Methods, Interferences, and the Testing Cycle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Hemolysis, icterus, lipemia — the everyday interferences that corrupt results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analyte can read falsely LOW on a sandwich immunoassay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laboratory errors are preanalytic — before the analyzer ever runs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result is only as good as the method behind it. Knowing what each platform measures — and how it fails — lets you spot the impossible value, defend the real one, and advise clinicians who trust the number.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consultative question is rarely 'what is the value?' — it is 'can I believe this value in this patient?'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LECTURE 1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spectrophotometry, immunoassays, and mass spectrometry at a working level.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sandwich and competitive immunoassay designs.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hemolysis, icterus, and lipemia interferences and their direction.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hook effect, heterophile-antibody, and biotin interferences.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error across the preanalytic, analytic, and postanalytic phases.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basic quality-control concepts to detect analytic error.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methods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spectrophotometry, immunoassay, mass spectrometry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4323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Immunoassay design &amp; pitfalls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sandwich vs competitive; hook, heterophile, biotin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8328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interferences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hemolysis, icterus, lipemia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34256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testing cycle &amp; QC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preanalytic to postanalytic error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486400"/>
            <a:ext cx="384048" cy="38404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285232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recognizing the impossible result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4A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7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Analytic Methods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METHODS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Spectrophotometry &amp; Chromatography–MS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SPECTROPHOTOMETRY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Beer-Lambert law: absorbance is proportional to analyte concentration and path length.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basis of most routine chemistry (enzymatic and colorimetric assays).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vs kinetic (rate) measurements; enzyme activity is measured kinetically.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Turbidity from lipemia and color from hemolysis/icterus distort absorbance.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CHROMATOGRAPHY &amp; MASS SPECTROMETRY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LC-MS/MS and GC-MS separate compounds then identify them by mass-to-charge.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specificity — the confirmatory standard in toxicology and for steroids, drugs, metanephrines.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many immunoassay interferences (no antibody cross-reactivity).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Labor-intensive and expertise-dependent.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IMMUNOASSAY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Immunoassay Design and the Hook Effect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6648" y="1481328"/>
            <a:ext cx="10058400" cy="4288536"/>
          </a:xfrm>
          <a:prstGeom prst="roundRect">
            <a:avLst>
              <a:gd name="adj" fmla="val 191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chem_immunoass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4664" y="1609344"/>
            <a:ext cx="9802368" cy="4032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84301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In a sandwich assay, signal tracks analyte — until extreme concentrations saturate the antibodies and the signal paradoxically falls (high-dose hook).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IMMUNOASSAY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Designs, Opposite Signal Logic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SANDWICH (IMMUNOMETRIC)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antibody + analyte + labeled detection antibody.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is directly proportional to analyte — used for larger molecules (TSH, hCG, troponin).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to the high-dose hook effect at extreme concentrations.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two epitopes, so very small analytes can’t use 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Analyte competes with labeled antigen for limited antibody.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is INVERSELY proportional to analyte — used for small molecules (cortisol, drugs, T4).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hook effect in the same way, but cross-reactivity matters.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curves are nonlinear.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IMMUNOASSAY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Immunoassay Interferences You Must Know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ANTIBODY INTERFERENCES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Heterophile antibodies (e.g., HAMA) bridge capture and detection antibodies → false positive/elevation.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 when a result doesn’t fit the clinical picture (e.g., implausibly high hCG, troponin).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with serial dilution (non-linearity), heterophile blocking tubes, or an alternative platform.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Macro-analytes (macroprolactin, macro-CK) cause spurious elevations.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BIOTIN &amp; HOOK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High-dose biotin (supplements) interferes with streptavidin-biotin assays — can falsely raise or lower results by design.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pattern: low TSH with high free T4 mimicking hyperthyroidism.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 effect makes a very high analyte read falsely low — dilute and re-assay if suspected.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reconcile a surprising value with the clinical context.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4A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7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Interferences &amp; the Testing Cycle</a:t>
            </a:r>
            <a:endParaRPr lang="en-US" sz="3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INTERFERENCES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Hemolysis, Icterus, Lipemia (HIL)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657600"/>
                <a:gridCol w="4928616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Interferent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effects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Hemolysis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 of intracellular contents + spectral interference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potassium, ↑ LDH, ↑ AST, ↑ phosphate; ↑ free hemoglobin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Icterus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bilirubin alters absorbance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Interferes with several colorimetric assays (assay-dependent direction)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Lipemia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Turbidity scatters light; volume displacement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Spurious results; pseudohyponatremia by indirect 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vitro / preanalytic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Tourniquet, fist-clench, delayed separation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potassium, ↑ lactate; spurious changes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016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HIL indices flag affected samples; the corrective action is to recollect or use an interference-resistant method.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THE TESTING CYCLE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Across the Testing 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3383280" cy="1371600"/>
          </a:xfrm>
          <a:prstGeom prst="roundRect">
            <a:avLst>
              <a:gd name="adj" fmla="val 4667"/>
            </a:avLst>
          </a:prstGeom>
          <a:solidFill>
            <a:srgbClr val="1565C0"/>
          </a:solidFill>
          <a:ln w="15875">
            <a:solidFill>
              <a:srgbClr val="1565C0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920240"/>
            <a:ext cx="3273552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PREANALYTIC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order, collect, label, transport, process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986784" y="2606040"/>
            <a:ext cx="380848" cy="0"/>
          </a:xfrm>
          <a:prstGeom prst="line">
            <a:avLst/>
          </a:prstGeom>
          <a:noFill/>
          <a:ln w="22225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404208" y="1920240"/>
            <a:ext cx="33832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59072" y="1920240"/>
            <a:ext cx="3273552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on the instrument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824064" y="2606040"/>
            <a:ext cx="380848" cy="0"/>
          </a:xfrm>
          <a:prstGeom prst="line">
            <a:avLst/>
          </a:prstGeom>
          <a:noFill/>
          <a:ln w="22225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41487" y="1920240"/>
            <a:ext cx="3383280" cy="1371600"/>
          </a:xfrm>
          <a:prstGeom prst="roundRect">
            <a:avLst>
              <a:gd name="adj" fmla="val 4667"/>
            </a:avLst>
          </a:prstGeom>
          <a:solidFill>
            <a:srgbClr val="0E3A5F"/>
          </a:solidFill>
          <a:ln w="15875">
            <a:solidFill>
              <a:srgbClr val="0E3A5F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96351" y="1920240"/>
            <a:ext cx="3273552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POSTANALYTIC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result, interpretation, reporting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611880"/>
            <a:ext cx="11057839" cy="1828800"/>
          </a:xfrm>
          <a:prstGeom prst="roundRect">
            <a:avLst>
              <a:gd name="adj" fmla="val 45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3794760"/>
            <a:ext cx="1050919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errors are PREANALYTIC: wrong patient/tube, hemolysis, clotting, wrong additive, delayed processing.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 errors: calibration drift, interference, carryover — caught by quality control and delta checks.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Postanalytic errors: transcription, wrong reference interval, failure to communicate a critical value.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checks compare a new result with the patient’s prior value to catch sample mix-ups and large shifts.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QUALITY CONTROL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Analytic Error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FUNDAMENTALS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controls at defined intervals; plot on a Levey-Jennings chart against mean ± SD.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error widens scatter (precision); systematic error shifts/trends the mean (accuracy).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Westgard multirules (e.g., 1₃ₛ, 2₂ₛ, R₄ₛ, 10ₓ) flag out-of-control runs.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shift suggests a new lot/calibration; a trend suggests reagent or electrode deterioration.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QC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Proficiency testing benchmarks performance against peers.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checks and absurd-value limits catch sample and analytic problems.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verification and linearity confirm the reportable range.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comparison and bias assessment when changing platforms.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4A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7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potassium of 7.2 mmol/L is reported on a well outpatient with a normal ECG. The sample is noted to be visibly hemolyzed, and the LDH and phosphate are also elevated. A repeat, carefully drawn sample is normal.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explains the first result, and what is the lesson for reporting?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Hemolysis-Induced Pseudohyperkalemia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vitro hemolysis released intracellular potassium (and LDH, AST, phosphate) → spurious hyperkalemia.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mismatch (well patient, normal ECG) is the tell.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 index and the recollected normal result confirm the artifact.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with a hemolysis comment or recollect — never let a spurious critical potassium drive treatment.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Hemolysis is the commonest interference; potassium, LDH, AST, and phosphate move up together. Always reconcile criticals with the patient.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non-pregnant patient has a markedly elevated hCG, but imaging shows no pregnancy or tumor. Serial dilution of the sample does not yield proportional results, and a different platform reports a normal value.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interference is most likely, and how did the laboratory confirm it?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Heterophile-Antibody Interference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Heterophile antibodies bridged the assay antibodies, producing a false-positive hCG.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Non-linearity on dilution is a classic clue to interference.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Confirmation: a normal result on an alternative platform (and/or heterophile-blocking tubes).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this prevents harmful work-ups or therapy for a non-existent condition.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immunoassay result defies the clinical picture, think interference: dilute, block, or switch platforms before acting.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CASE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on high-dose biotin supplements has a suppressed TSH with a high free T4, suggesting hyperthyroidism, but is clinically euthyroid. Repeat testing after stopping biotin is normal.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caused the pattern, and what advice prevents it?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CASE 3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Biotin Interference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High-dose biotin interferes with streptavidin-biotin immunoassays, mimicking hyperthyroidism (low TSH, high free T4).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direction depends on assay design (sandwich vs competitive).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 holding biotin (often ~48–72 h) before testing.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thyroid results with the clinical state before acting.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biotin supplements when thyroid (or troponin) results don’t fit — a simple history prevents a misdiagnosis.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4A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7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FOUR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sandwich immunoassay reports an unexpectedly LOW value in a patient you suspect has a very high analyte level. What is the best next step?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Report the low value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Dilute the sample and re-assay (suspect hook effect)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Add more conjugate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Switch to a competitive assay only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Repeat without changes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Dilute and re-assay (hook effect)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high analyte saturates a sandwich assay’s antibodies and lowers the signal (high-dose hook). Dilution relieves saturation and yields the true, higher value.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set of analytes characteristically rises together due to in vitro hemolysis?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Sodium, chloride, glucose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Potassium, LDH, AST, phosphate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Calcium, albumin, ALP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Bicarbonate, BUN, creatinine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TSH, free T4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Potassium, LDH, AST, phosphate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concentrated intracellularly; red-cell lysis releases them, producing concordant spurious elevations and signaling hemolysis.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Levey-Jennings chart, the control mean gradually drifts upward over two weeks. This pattern indicates: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Random error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 trend, suggesting systematic error (e.g., reagent/electrode deterioration)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Normal variation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 shift from a new lot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Clerical error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A trend (systematic error)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gradual, progressive drift is a trend, indicating systematic error such as deteriorating reagent or a failing electrode. An abrupt step is a shift (e.g., new lot/calibration).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each method measures: spectrophotometry (Beer-Lambert), immunoassay (sandwich vs competitive), and MS (confirmatory).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743200"/>
            <a:ext cx="365760" cy="36576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05456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Sandwich assays read high analyte falsely LOW (hook); heterophile and biotin interferences mimic disease — reconcile with the clinic.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730752"/>
            <a:ext cx="365760" cy="36576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Hemolysis raises potassium, LDH, AST, and phosphate together; lipemia causes pseudohyponatremia by indirect ISE.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718304"/>
            <a:ext cx="365760" cy="36576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errors are preanalytic; delta checks and HIL indices catch many before they reach the chart.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5705856"/>
            <a:ext cx="365760" cy="36576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68112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QC: Levey-Jennings + Westgard rules separate random (precision) from systematic (accuracy) error.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Rifai N, Horvath AR, Wittwer CT (eds). Tietz Textbook of Clinical Chemistry and Molecular Diagnostics, 6th ed. Elsevier, 2018.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CLSI EP07: Interference Testing in Clinical Chemistry.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CLSI C24: Statistical Quality Control for Quantitative Measurement Procedures.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Westgard JO. Basic QC Practices, 4th ed. Westgard QC, 2016.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Analytic Techniques and Preanalytic/Analytic Error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2026-06-28T05:32:22Z</dcterms:created>
  <dcterms:modified xsi:type="dcterms:W3CDTF">2026-06-28T05:32:22Z</dcterms:modified>
</cp:coreProperties>
</file>