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85" r:id="rId36"/>
    <p:sldId id="277" r:id="rId23"/>
    <p:sldId id="284" r:id="rId35"/>
    <p:sldId id="278" r:id="rId24"/>
    <p:sldId id="283" r:id="rId34"/>
    <p:sldId id="279" r:id="rId25"/>
    <p:sldId id="282" r:id="rId33"/>
    <p:sldId id="280" r:id="rId26"/>
    <p:sldId id="281" r:id="rId27"/>
  </p:sldIdLst>
  <p:notesMasterIdLst>
    <p:notesMasterId r:id="rId2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1188720"/>
            <a:ext cx="4480560" cy="4480560"/>
          </a:xfrm>
          <a:prstGeom prst="ellipse">
            <a:avLst/>
          </a:prstGeom>
          <a:solidFill>
            <a:srgbClr val="1565C0">
              <a:alpha val="14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058400" y="2743200"/>
            <a:ext cx="2468880" cy="2468880"/>
          </a:xfrm>
          <a:prstGeom prst="ellipse">
            <a:avLst/>
          </a:prstGeom>
          <a:solidFill>
            <a:srgbClr val="1565C0">
              <a:alpha val="22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0835640" y="3611880"/>
            <a:ext cx="1143000" cy="1143000"/>
          </a:xfrm>
          <a:prstGeom prst="ellipse">
            <a:avLst/>
          </a:prstGeom>
          <a:solidFill>
            <a:srgbClr val="1565C0">
              <a:alpha val="42000"/>
            </a:srgbClr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66928" y="1078992"/>
            <a:ext cx="5532120" cy="42062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66928" y="1078992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LECTURE SERIES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18105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·  LECTURE 4 OF 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 &amp; Protein Testing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566928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BF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Thyroid &amp; Adrenal Axes, SPEP Zones, and Free Light Chains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66928" y="5074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Tamima El-Jisr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Chairperson, Department of Laboratory Medicine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Hospital, Beirut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99855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D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Curriculum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FRAMING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66928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TSH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13232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sensitive single screen for thyroid status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4314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344314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Zones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90618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SPEP region maps to specific proteins and diseases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1701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121701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FLC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268005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Serum free light chains detect light-chain-only disease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41248" y="3611880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 and protein testing reward an understanding of feedback axes, dynamic testing, and electrophoretic patterns — and a healthy suspicion for assay interference. The SPEP section follows the department’s own teaching (D. Keren).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66928" y="502920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hormones as axes (stimulator + effector) and proteins as patterns (SPEP/IFE/FLC together), not as isolated numbers.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68096" y="1969008"/>
            <a:ext cx="420624" cy="420624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80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533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thyroid function tests and recognize interferences.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479896" y="1969008"/>
            <a:ext cx="420624" cy="420624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798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651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caveats to cortisol and ACTH dynamic testing.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68096" y="3639312"/>
            <a:ext cx="420624" cy="420624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680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533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SPEP zone-by-zone and identify acute-phase, nephrotic, and cirrhosis patterns.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87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479896" y="3639312"/>
            <a:ext cx="420624" cy="420624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4798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651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polyclonal from monoclonal gammopathy and reflex to immunofixation.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68096" y="5309616"/>
            <a:ext cx="420624" cy="420624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680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serum free light chains and the ratio in monoclonal gammopathy.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787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6479896" y="5309616"/>
            <a:ext cx="420624" cy="420624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4798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651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biotin, heterophile, and macro-analyte interferences in endocrine testing.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WHAT WE WILL COVER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49808" y="1682496"/>
            <a:ext cx="384048" cy="384048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9808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481328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Thyroid axis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TSH-reflex strategy and interferences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432304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49808" y="2633472"/>
            <a:ext cx="384048" cy="384048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49808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2432304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Adrenal &amp; dynamic testing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cortisol/ACTH caveats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49808" y="3584448"/>
            <a:ext cx="384048" cy="384048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98448" y="3383280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SPEP zones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proteins by region (Keren)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34256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49808" y="4535424"/>
            <a:ext cx="384048" cy="384048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98448" y="4334256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Gammopathy workup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patterns, IFE, free light chains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5285232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49808" y="5486400"/>
            <a:ext cx="384048" cy="384048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49808" y="5486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5285232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4A9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7EF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Thyroid &amp; Adrenal Axes</a:t>
            </a:r>
            <a:endParaRPr lang="en-US" sz="3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THYROID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Hypothalamic-Pituitary-Thyroid Axis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798168" y="1481328"/>
            <a:ext cx="8595360" cy="3968496"/>
          </a:xfrm>
          <a:prstGeom prst="roundRect">
            <a:avLst>
              <a:gd name="adj" fmla="val 2074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" name="Image 0" descr="/tmp/cp_work2/art/chem_thyro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6184" y="1609344"/>
            <a:ext cx="8339328" cy="371246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522976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TSH is the most sensitive screen because of the log-linear feedback with free T4.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THYROID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Interpreting Thyroid Tests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hypothyroidism: ↑TSH, ↓free T4.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hyperthyroidism: ↓TSH, ↑free T4 (or T3 toxicosis).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disease: inappropriately normal/low TSH with abnormal free T4.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Non-thyroidal illness ('sick euthyroid'): low T3, variable TSH — avoid testing in acute illness.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INTERFERENCES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Biotin: low TSH + high free T4 mimicking hyperthyroidism — hold biotin before testing.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Heterophile antibodies can falsely raise TSH.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Anti-T4/T3 autoantibodies and assay-specific effects.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 with the clinical picture; repeat on another platform if discordant.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ADRENAL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Cortisol, ACTH &amp; Dynamic Testing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Cortisol has a diurnal rhythm — timing matters; stress and illness raise it.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Hypercortisolism screen: late-night salivary cortisol, 1-mg dexamethasone suppression, 24-h urine free cortisol.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Adrenal insufficiency: morning cortisol ± ACTH stimulation.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Estrogen raises CBG (total cortisol); exogenous steroids confound.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ACTH &amp; LOCALIZATION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 cortisol with ACTH to localize (ACTH-dependent vs independent).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suppression/stimulation outperforms single static levels.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ACTH is labile — chilled EDTA, rapid processing.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with pretest probability.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4A9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7EF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Protein Electrophoresis &amp; Gammopathies</a:t>
            </a:r>
            <a:endParaRPr lang="en-US" sz="3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PROTEINS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 SPEP Zones and Their Proteins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66648" y="1481328"/>
            <a:ext cx="10058400" cy="4288536"/>
          </a:xfrm>
          <a:prstGeom prst="roundRect">
            <a:avLst>
              <a:gd name="adj" fmla="val 1919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" name="Image 0" descr="/tmp/cp_work2/art/chem_spepzon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4664" y="1609344"/>
            <a:ext cx="9802368" cy="403250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843016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 (department teaching: D. Keren). Each zone maps to specific proteins, enabling pattern-based interpretation.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PROTEINS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Zone-by-Zone Interpretation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ALBUMIN, Α₁, Α₂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α₁ — mainly α₁-antitrypsin (A1AT); a flat/absent α₁ band suggests A1AT deficiency (MZ/ZZ).</a:t>
            </a:r>
            <a:endParaRPr lang="en-US" sz="12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α₂ — haptoglobin and α₂-macroglobulin.</a:t>
            </a:r>
            <a:endParaRPr lang="en-US" sz="12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Acute phase: ↑ α₁ and α₂ (positive acute-phase reactants); albumin falls (negative).</a:t>
            </a:r>
            <a:endParaRPr lang="en-US" sz="12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Nephrotic: low albumin with a prominent α₂ (retained α₂-macroglobulin).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 AND Γ REGIONS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 — transferrin (β₁) and C3 (β₂); iron deficiency raises transferrin (β).</a:t>
            </a:r>
            <a:endParaRPr lang="en-US" sz="12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Cirrhosis: β–γ bridging (polyclonal IgA) and low albumin.</a:t>
            </a:r>
            <a:endParaRPr lang="en-US" sz="12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γ — immunoglobulins; broad rise = polyclonal (infection/inflammation/liver).</a:t>
            </a:r>
            <a:endParaRPr lang="en-US" sz="12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discrete γ (or β) spike = monoclonal → reflex immunofixation.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GAMMOPATHY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SPEP, UPEP, and Immunofixation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TRACING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discrete M-spike suggests a monoclonal process; a broad γ rise is polyclonal.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Hypogammaglobulinemia may be the only SPEP clue to light-chain-only myeloma.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M-protein can hide in the β region (IgA) — IFE resolves it.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 immunofixation identifies the heavy- and light-chain class.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URINE &amp; QUANTITATION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UPEP/urine IFE detect Bence-Jones (free light-chain) proteinuria.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 the M-protein (densitometry) for monitoring.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Contrast-dye and fibrinogen can mimic small bands — know the artifacts.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with serum free light chains for sensitivity.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GAMMOPATHY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Light Chains &amp; the IMWG Workup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SERUM FREE LIGHT CHAINS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free κ and λ and the κ/λ ratio — sensitive for light-chain disease and AL amyloid.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abnormal ratio indicates clonal excess.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sensitive than UPEP for some light-chain disorders.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Renal impairment raises both chains — interpret the RATIO.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PUTTING IT TOGETHER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Workup: SPEP + serum IFE + serum free light chains (± UPEP/urine IFE).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MGUS, smoldering, and myeloma by M-protein, marrow plasma cells, and CRAB.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quantitatively for trend monitoring.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 significant findings for hematology evaluation.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4A9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7EF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3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CASE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clinically euthyroid patient on a hair-and-nail supplement has a suppressed TSH with elevated free T4. Repeat testing after a 3-day pause is normal.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caused the misleading pattern, and the practical advice?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CASE 1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Biotin Interference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High-dose biotin interfered with streptavidin-biotin thyroid immunoassays.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pattern (low TSH, high free T4) mimicked hyperthyroidism in a euthyroid patient.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Holding biotin (often 48–72 h) resolves it.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 thyroid numbers with the clinical state.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about biotin whenever thyroid results don’t fit — a one-question history prevents an erroneous diagnosis.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CASE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SPEP shows low albumin, a prominent α₂ band, and reduced γ globulins in a patient with heavy proteinuria and edema.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SPEP pattern is this, and what is the mechanism?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CASE 2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Nephrotic SPEP Pattern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Nephrotic pattern — urinary loss of smaller proteins (albumin, immunoglobulins) with retention of large α₂-macroglobulin.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albumin + prominent α₂ + low γ is characteristic.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heavy selective proteinuria.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 with urine protein and clinical nephrotic syndrome.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SPEP patterns are diagnostic: the nephrotic pattern (↓albumin, ↑α₂, ↓γ) reflects size-selective renal protein loss.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CASE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older patient with anemia and renal impairment has a normal SPEP but hypogammaglobulinemia. Serum free light chains show markedly elevated κ with a very high κ/λ ratio; urine IFE shows free κ.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pathway, and why was the SPEP nearly normal?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CASE 3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3: Light-Chain Multiple Myeloma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Light-chain-only myeloma — the clone secretes free light chains, not intact immunoglobulin, so the SPEP lacks an M-spike.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Hypogammaglobulinemia and an abnormal free light-chain ratio are the clues.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Urine IFE confirms Bence-Jones (free κ) proteinuria.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with marrow plasma cells and CRAB end-organ features.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normal SPEP does not exclude plasma-cell disease — serum free light chains and the ratio catch light-chain-only disease.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single test is the most sensitive initial screen for thyroid dysfunction in an ambulatory patient?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Total T4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Free T3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TSH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Thyroid antibodies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Reverse T3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SPEP, β–γ bridging with low albumin is characteristic of: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Acute inflammation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Cirrhosis / chronic liver disease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Nephrotic syndrome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Multiple myeloma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Iron deficiency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discrete spike in the gamma region on SPEP should prompt which reflex test?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Repeat SPEP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Immunofixation electrophoresis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C-reactive protein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Serum iron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Haptoglobin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BOARD REVIEW  ·  Q4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 with suspected light-chain disease has a normal SPEP. Which test best detects clonal light-chain excess?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Total protein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Serum free light chains with κ/λ ratio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Albumin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Beta-2 microglobulin alone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ESR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Take-Home 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49808" y="1755648"/>
            <a:ext cx="365760" cy="365760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980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517904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TSH is the most sensitive thyroid screen; biotin and heterophile interferences can mimic thyroid disease — reconcile with the patient.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505456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49808" y="2743200"/>
            <a:ext cx="365760" cy="365760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49808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505456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 effector hormones with their stimulators and prefer dynamic testing for adrenal axes.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493008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49808" y="3730752"/>
            <a:ext cx="365760" cy="365760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493008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SPEP by zone: α₁ (A1AT), α₂ (haptoglobin), β (transferrin/C3), γ (Ig); recognize acute-phase, nephrotic, and cirrhosis patterns.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80560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49808" y="4718304"/>
            <a:ext cx="365760" cy="365760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" y="4718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4480560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discrete spike → immunofixation; a normal SPEP does not exclude light-chain disease — use serum free light chains and the ratio.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5468112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49808" y="5705856"/>
            <a:ext cx="365760" cy="365760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49808" y="5705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5468112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 M-protein and light chains for monitoring; interpret the ratio in renal impairment.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002975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REFERENCES &amp; FURTHER READING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828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Keren DF. Protein Electrophoresis in Clinical Diagnosis. ASCP Press (department teaching reference).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Rifai N, et al. Tietz Textbook of Clinical Chemistry, 6th ed. Elsevier, 2018.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Rajkumar SV, et al. IMWG criteria for the diagnosis of multiple myeloma. Lancet Oncol. 2014.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Clarke W (ed). Contemporary Practice in Clinical Chemistry, AACC Press.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BOARD REVIEW  ·  Q4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 with suspected light-chain disease has a normal SPEP. Which test best detects clonal light-chain excess?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Total protein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Serum free light chains with κ/λ ratio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Albumin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Beta-2 microglobulin alone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ESR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Serum free light chains with ratio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serum free light-chain assay and ratio detect light-chain-only disease that a normal SPEP can miss; the ratio corrects for renal retention.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discrete spike in the gamma region on SPEP should prompt which reflex test?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Repeat SPEP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Immunofixation electrophoresis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C-reactive protein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Serum iron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Haptoglobin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Immunofixation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Immunofixation identifies the heavy- and light-chain type of the monoclonal protein, confirming the M-spike.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SPEP, β–γ bridging with low albumin is characteristic of: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Acute inflammation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Cirrhosis / chronic liver disease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Nephrotic syndrome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Multiple myeloma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Iron deficiency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Cirrhosis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Polyclonal IgA in liver disease fills the trough between β and γ (bridging); albumin falls with reduced synthesis.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single test is the most sensitive initial screen for thyroid dysfunction in an ambulatory patient?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Total T4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Free T3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TSH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Thyroid antibodies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Reverse T3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TSH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Log-linear pituitary feedback makes TSH the most sensitive first-line screen (barring central disease or interference).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Endocrine &amp; Protein Testing</dc:title>
  <dc:subject>PptxGenJS Presentation</dc:subject>
  <dc:creator>Makassed General Hospital — Department of Laboratory Medicine</dc:creator>
  <cp:lastModifiedBy>Makassed General Hospital — Department of Laboratory Medicine</cp:lastModifiedBy>
  <cp:revision>1</cp:revision>
  <dcterms:created xsi:type="dcterms:W3CDTF">2026-06-28T06:50:00Z</dcterms:created>
  <dcterms:modified xsi:type="dcterms:W3CDTF">2026-06-28T06:50:00Z</dcterms:modified>
</cp:coreProperties>
</file>