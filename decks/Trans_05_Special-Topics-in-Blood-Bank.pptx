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AD1457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AD145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AD1457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·  LECTURE 5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Topics in Blood Bank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HDFN, Neonatal Transfusion, Modifications &amp; Apheresis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HDFN from anti-D is largely preventable with Rh immune globulin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prevent transfusion-associated GVHD in at-risk recipients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plasma exchange is first-line, category I, for TTP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special situations carry the highest stakes in transfusion: the unborn, the newborn, the immunocompromised, and patients needing apheresis. Each has specific products, timing, and prevention rules.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is the theme: RhIG prevents anti-D HDFN; irradiation prevents TA-GVHD; correct product selection prevents harm in neonates.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LECTURE 5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pathophysiology and prevention of HDFN.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Rh immune globulin indications, timing, and dosing based on fetomaternal hemorrhage.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neonatal transfusion requirements and intrauterine transfusion principles.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correct product modification (leukoreduced, irradiated, washed, CMV-safe).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therapeutic apheresis modalities and high-yield indications.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apheresis and HPC-collection complications.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mechanism, severity, monitoring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immune globulin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indications, timing, FMH dosing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&amp; special products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requirements and modifications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apheresis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modalities and ASFA indications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RhIG, irradiation, plasma exchange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Hemolytic Disease of the Fetus &amp; Newborn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HDFN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HDFN Develops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49528" y="1481328"/>
            <a:ext cx="96926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hdf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544" y="1609344"/>
            <a:ext cx="9436608" cy="4178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Maternal IgG alloantibody crosses the placenta and hemolyzes antigen-positive fetal red cells.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HDFN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and Severity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ANTIBODIES CAUSE HDFN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 is the classic and most severe cause; anti-c and anti-K are also important.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Anti-Kell causes severe disease partly by SUPPRESSING fetal erythropoiesis — anemia out of proportion to bilirubin.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HDN occurs in group O mothers with group A/B infants — usually MILD (IgG anti-A,B; fetal antigens weakly expressed).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and other IgM antibodies do not cause HDFN (don’t cross the placenta).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SEVERITY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antibody identification and titers guide surveillance.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cerebral artery (MCA) Doppler peak velocity detects fetal anemia non-invasively.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Paternal/fetal antigen status (including cell-free fetal DNA) assesses risk.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Kell, titers/amniotic bilirubin under-estimate severity — follow MCA Doppler.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PREVENTION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Immune Globulin Prevents Sensitization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49528" y="1481328"/>
            <a:ext cx="9692640" cy="3877056"/>
          </a:xfrm>
          <a:prstGeom prst="roundRect">
            <a:avLst>
              <a:gd name="adj" fmla="val 212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rh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544" y="1609344"/>
            <a:ext cx="9436608" cy="36210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4315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RhIG clears fetal D-positive cells before the mother mounts an active anti-D response.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PREVENTION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RhIG: Indications, Timing, and Dose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GIVE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Rh-negative, non-sensitized mother carrying (or possibly carrying) an Rh-positive fetus.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antepartum dose at ~28 weeks.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72 hours of delivery of an Rh-positive infant.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sensitizing events: miscarriage, amniocentesis, abdominal trauma, ectopic, antepartum bleeding.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BY FETOMATERNAL HEMORRHAGE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dose covers a defined volume of fetal whole blood; large bleeds need more.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FMH with the Kleihauer-Betke acid-elution test or flow cytometry.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number of vials from the fetal-cell percentage / volume.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RhIG is ineffective once the mother is already sensitized (has active anti-D).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Transfusion &amp; Product Modifications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NEONATAL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Transfusing Neonates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DIFFERENT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Neonates do not make ABO antibodies — antibodies present are maternal; reverse typing is not used.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 red cells are commonly used for small-volume top-ups; compatibility is with maternal antibody.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aliquots from a dedicated unit limit donor exposure.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irradiated and CMV-safe; fresh, low-potassium units for large/exchange transfusions.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INTRAUTERINE TRANSFUSION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severe fetal anemia (e.g., HDFN) detected by MCA Doppler.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O, Rh-negative, antigen-negative for the maternal antibody.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Irradiated, CMV-safe, fresh, and hematocrit-adjusted.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by maternal-fetal medicine with blood-bank support.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PRODUCT MODIFICATIONS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Modification to the Need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54296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Leukoreduction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most white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FNHTR; reduce HLA alloimmunization; reduce CMV transmission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Irradiation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Inactivates donor T-lymphocytes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TA-GVHD: immunocompromised, neonates/intrauterine, HLA-matched or related-donor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plasma proteins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severe allergic / anaphylactic reactions; IgA deficiency (with anti-IgA)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CMV-safe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CMV-seronegative or leukoreduced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CMV-seronegative at-risk: pregnancy, neonates, transplant, severe immunodeficiency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Leukoreduction reduces — but does not reliably prevent — TA-GVHD; only irradiation prevents it.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Apheresis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APHERESIS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Apheresis: Separate, Remove, Return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40968" y="1481328"/>
            <a:ext cx="9509760" cy="3803904"/>
          </a:xfrm>
          <a:prstGeom prst="roundRect">
            <a:avLst>
              <a:gd name="adj" fmla="val 21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apher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984" y="1609344"/>
            <a:ext cx="9253728" cy="3547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3583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Blood is separated by centrifugation; the target component is removed and the remainder is returned.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APHERESIS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and High-Yield Indications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plasma exchange (TPE) — removes plasma (antibodies, immune complexes), replaced with albumin/plasma.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cell exchange — swaps sickle cells for normal (acute chest, stroke).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Leukapheresis — removes white cells in symptomatic hyperleukocytosis / leukostasis.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Plateletpheresis (extreme thrombocytosis) and photopheresis (cutaneous T-cell lymphoma, GVHD).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ASFA CATEGORIES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ASFA category system grades evidence for apheresis by indication (I–IV).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 = first-line therapy (e.g., TTP → TPE; some neuro/renal indications).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for TTP replaces ADAMTS13 and removes the inhibitor and ultra-large vWF multimers.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modality and replacement fluid to the target being removed.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APHERESIS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Collection and Procedure Complications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HEMATOPOIETIC PROGENITOR CELLS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Apheresis collects mobilized HPCs from peripheral blood for transplantation.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CD34+ enumeration guides adequacy of the collection.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autologous and allogeneic transplant programs.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therapy products have specialized processing and labeling.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TO ANTICIPATE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toxicity (hypocalcemia) is the most common — paresthesia, give calcium.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issues; hypotension and volume shifts.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of needed components (e.g., platelets) with repeated procedures.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Allergic reactions to replacement plasma.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Rh-negative, antibody-screen-negative woman delivers an Rh-positive infant. A postpartum Kleihauer-Betke test shows a larger-than-expected proportion of fetal cells, suggesting a sizable fetomaternal hemorrhage.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given, in what timeframe, and how does the FMH result change management?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RhIG with Large FMH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Rh immune globulin within 72 hours of delivery to prevent anti-D sensitization.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dose covers a limited volume of fetal blood; a large FMH requires additional vials.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Kleihauer-Betke (or flow) result to calculate the number of vials needed.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mother is not already sensitized — RhIG does not help once active anti-D is present.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FMH prevents under-dosing RhIG after large bleeds; antepartum (28 wk) and post-sensitizing-event dosing complete the program.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severely immunocompromised patient (recent stem cell transplant) requires red cells and platelets. The team asks which product modifications are mandatory to prevent a specific, often-fatal complication.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modification is essential and why, and what does leukoreduction add?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Irradiation to Prevent TA-GVHD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Irradiate cellular components to inactivate donor T-lymphocytes and prevent transfusion-associated GVHD.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TA-GVHD is near-uniformly fatal; irradiation is the only reliable prevention.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Leukoreduction reduces FNHTR, HLA alloimmunization, and CMV risk — but does NOT reliably prevent TA-GVHD.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CMV-safe products for CMV-seronegative transplant recipients.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recipients (immunocompromised, neonates, HLA-matched or related-donor units) require irradiated cellular components — every time.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presents with microangiopathic hemolytic anemia, thrombocytopenia, neurologic changes, normal coagulation, and a severely deficient ADAMTS13. The team plans definitive therapy.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apheresis procedure is first-line, what ASFA category is it, and what does it accomplish?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TPE for TTP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plasma exchange is first-line (ASFA category I) for TTP.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ADAMTS13 inhibitor and ultra-large vWF multimers and replaces functional ADAMTS13 (plasma replacement).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urgently — untreated TTP has high mortality.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platelet transfusion unless life-threatening bleeding.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 is the prototypical category I plasma-exchange indication: replace ADAMTS13, remove the inhibitor, and do it without delay.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delivery of an Rh-positive infant by an Rh-negative mother, a large fetomaternal hemorrhage is detected. What determines the RhIG dose?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Maternal weight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quantified volume of fetal cells (Kleihauer-Betke or flow)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Infant bilirubin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Maternal antibody titer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Gestational age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Quantified fetal-cell volume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RhIG dose is based on the volume of fetomaternal hemorrhage, measured by Kleihauer-Betke or flow cytometry; large bleeds require additional vials beyond the standard dose.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modification is required to prevent transfusion-associated graft-versus-host disease in an at-risk recipient?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Leukoreduction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Washing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Irradiation of cellular components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CMV-seronegative units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Fresh units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Irradiation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irradiation reliably inactivates donor T-lymphocytes to prevent TA-GVHD. Leukoreduction reduces FNHTR/HLA alloimmunization/CMV risk but does not reliably prevent TA-GVHD.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TTP and severe ADAMTS13 deficiency needs definitive treatment. Which is first-line?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Platelet transfusion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Red cell exchange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Therapeutic plasma exchange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Leukapheresis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Cryoprecipitate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Therapeutic plasma exchange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is first-line (ASFA category I) for TTP: it removes the ADAMTS13 inhibitor and ultra-large vWF multimers and replaces ADAMTS13. Platelets are generally avoided.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anti-D HDFN, ABO hemolytic disease of the newborn is typically: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More severe and requires intrauterine transfusion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Usually mild, occurring in group O mothers with group A or B infants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Caused by IgM antibodies crossing the placenta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Prevented by RhIG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Associated with suppressed erythropoiesis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Usually mild; group O mother, A/B infant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HDN is generally mild because fetal A/B antigens are weakly expressed and IgG anti-A,B is variable. Anti-Kell (not ABO) suppresses erythropoiesis; RhIG prevents anti-D, not ABO, disease.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HDFN is caused by maternal IgG (classically anti-D; also anti-c, anti-K); anti-Kell also suppresses fetal erythropoiesis.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RhIG prevents anti-D sensitization — give at 28 weeks, within 72 h of delivery, and after sensitizing events; dose by FMH (Kleihauer-Betke / flow).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Neonates: maternal antibodies only; use group O, often irradiated and CMV-safe, small-volume units.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modification: irradiation prevents TA-GVHD; leukoreduction reduces FNHTR/HLA/CMV; washing for severe allergic / IgA deficiency.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plasma exchange is first-line (category I) for TTP; anticipate citrate-induced hypocalcemia in any apheresis.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Cohn CS, et al. (eds). AABB Technical Manual, 20th ed. AABB Press, 2020 (perinatal; neonatal; components; apheresis).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Connelly-Smith L, et al. Guidelines on the Use of Therapeutic Apheresis in Clinical Practice (ASFA), current edition. J Clin Apher.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Fung MK, et al. (eds). AABB Standards for Blood Banks and Transfusion Services (current edition).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Harmening DM. Modern Blood Banking &amp; Transfusion Practices, 7th ed. F.A. Davis, 2019 (HDFN; apheresis).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 Topics in Blood Bank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2026-06-28T05:28:46Z</dcterms:created>
  <dcterms:modified xsi:type="dcterms:W3CDTF">2026-06-28T05:28:46Z</dcterms:modified>
</cp:coreProperties>
</file>