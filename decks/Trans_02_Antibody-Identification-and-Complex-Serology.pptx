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306" r:id="rId57"/>
    <p:sldId id="298" r:id="rId44"/>
    <p:sldId id="305" r:id="rId56"/>
    <p:sldId id="299" r:id="rId45"/>
    <p:sldId id="304" r:id="rId55"/>
    <p:sldId id="300" r:id="rId46"/>
    <p:sldId id="303" r:id="rId54"/>
    <p:sldId id="301" r:id="rId47"/>
    <p:sldId id="302" r:id="rId48"/>
  </p:sldIdLst>
  <p:notesMasterIdLst>
    <p:notesMasterId r:id="rId4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AD1457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AD1457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AD1457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AD14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Identification &amp; Complex Serology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Panels, Dosage, Enzymes, and the Positive DAT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rule that makes an identification defensible (p ≈ 0.05)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real antibody can read negative on the wrong reagent cell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test that reframes a workup as autoimmune or drug-induced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identification is the consultative heart of the blood bank. A disciplined panel read — rule-out on homozygous cells, rule-in to statistical significance, then resolve dosage, enzymes, and autoantibodies — turns a positive screen into safe, antigen-negative units.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reason a panel 'won’t resolve' is multiple antibodies, dosage, or an autoantibody masking an alloantibody — each has a defined technique to solve it.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LECTURE 2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mechanism of agglutination and the factors that enhance or inhibit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tube, gel, and solid-phase methods and the immediate-spin / 37°C / AHG phases.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an antibody panel: rule-out on homozygous cells and rule-in to statistical significance.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dosage, enzyme, DTT/ZZAP, prewarm, and adsorption/elution techniques.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clinically significant blood-group systems and their behavior.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up a positive DAT: warm, cold, and drug-induced immune hemolysis.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15440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15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Immunohematology foundation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agglutination, potentiators, methods, phases, grading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98192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432304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298192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Pretransfusion testing &amp; the screen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clinically significant antibodies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115056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249168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249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115056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panel interpretation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rule-out, dosage, the 3-and-3 rule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931920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066032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066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3931920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Problem-solving tools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enzymes, DTT/ZZAP, adsorption / elution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748784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4882896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4748784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Blood-group systems &amp; the positive DAT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Rh, Kell, Kidd, Duffy, MNS; autoantibodies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565648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9808" y="5699760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9808" y="5699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98448" y="5565648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worked panels and board-style questions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Immunohematology Foundation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Agglutination: A Two-Step Reaction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4754880" cy="1371600"/>
          </a:xfrm>
          <a:prstGeom prst="roundRect">
            <a:avLst>
              <a:gd name="adj" fmla="val 4667"/>
            </a:avLst>
          </a:prstGeom>
          <a:solidFill>
            <a:srgbClr val="F8E7EF"/>
          </a:solidFill>
          <a:ln w="15875">
            <a:solidFill>
              <a:srgbClr val="F8E7EF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1828800"/>
            <a:ext cx="4645152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SENSITIZATION (coating)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Fab binds its red-cell antigen; cells too far apart to bridge — no visible clumping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67528" y="2514600"/>
            <a:ext cx="1456639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869887" y="1828800"/>
            <a:ext cx="4754880" cy="1371600"/>
          </a:xfrm>
          <a:prstGeom prst="roundRect">
            <a:avLst>
              <a:gd name="adj" fmla="val 4667"/>
            </a:avLst>
          </a:prstGeom>
          <a:solidFill>
            <a:srgbClr val="0E3A5F"/>
          </a:solidFill>
          <a:ln w="15875">
            <a:solidFill>
              <a:srgbClr val="0E3A5F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24751" y="1828800"/>
            <a:ext cx="4645152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LATTICE (bridge) formation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cross-links sensitized cells into a lattice — visible agglutination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11057839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04672" y="3657600"/>
            <a:ext cx="10600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CONSEQUENCES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" y="3977640"/>
            <a:ext cx="1058235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(pentamer) spans the distance between cells and agglutinates directly — typically cold, 'naturally occurring' (ABO, Lewis, P1, I).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IgG (monomer) is too small to bridge cells directly — it sensitizes, and detection requires anti-human globulin (the AHG/Coombs step).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is a less common but valid output when the full complement sequence is activated (more often with IgM).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Affecting Agglutination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CHEMISTRY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— most clinically significant antibodies react best at 37°C.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Immunoglobulin class — IgM agglutinates directly; IgG needs AHG.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Zeta potential — the negative charge (from membrane sialic acid) that holds cells apart and must be overcome.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Cations in solution form a cloud around the negatively charged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Antibody-to-antigen ratio — sensitization favored at higher antibody concentration.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POTENTIATORS (ENHANCEMENT MEDIA)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LISS (low-ionic-strength saline) — commonest; reduces zeta potential and shortens incubation.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 (polyethylene glycol) — removes water, concentrating antibody; especially good for the weakly reactive Kidd system.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bovine albumin — reduces zeta potential.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Enzymes — modify antigens to enhance/destroy reactivity (covered later).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Methods and the Three Phases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SEROLOGIC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 testing — manual, flexible; graded 0 to 4+ by agglutinate size and background.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 (micro-column) — cells migrate through dextran-acrylamide gel on centrifugation; agglutinates trapped near the top, free cells pellet at the bottom; stable for review.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Solid-phase — antigen or antibody bound to wells; adherent cells = positive.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CLASSIC PHASES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spin — detects IgM (cold) antibodies and ABO incompatibility.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37°C incubation — favors clinically significant IgG sensitization.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AHG / IAT phase — anti-human globulin bridges IgG-sensitized cells; the key phase for most significant antibodies.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(IgG-coated 'check cells') validates a negative AHG result.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GRADING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Reactions: Grading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750308"/>
                <a:gridCol w="4750308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Tube testing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 column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solid agglutinate, no free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band of agglutinates on top of the gel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large agglutinates, clear background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of agglutinates in the upper half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agglutinates, clear background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Agglutinates dispersed through the column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agglutinates, many free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Agglutinates in the lower half; button at bottom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 suspension, no agglutinates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Well-defined button at the bottom of the microtube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Agglutinates plus a population of free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at the top and a button at the bottom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Mixed-field reactions are a clue — recent transfusion, an A3/B3 subgroup, or a chimerism/engraftment state.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ANTIGLOBULIN 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vs IAT — Two Uses of Anti-Human Globulin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ANTIGLOBULIN TEST (DAT)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antibody / complement ALREADY bound to red cells in vivo.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Polyspecific reagent = anti-IgG + anti-C3d; monospecific reagents differentiate them.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 autoimmune hemolysis, HDFN, hemolytic transfusion reactions, drug-induced hemolysis.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the clinical picture — a positive DAT is not synonymous with hemolysis.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ANTIGLOBULIN TEST (IAT)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antibody in PLASMA that sensitizes reagent cells in vitro (two-stage).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basis of the antibody screen, panel AHG phase, and the antiglobulin crossmatch.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37°C incubation then the AHG phase.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and temperature of reactivity guide clinical significance.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Pretransfusion Testing &amp; the Screen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PRETRANSFUSION 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Type-and-Screen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AD1457"/>
          </a:solidFill>
          <a:ln w="15875">
            <a:solidFill>
              <a:srgbClr val="AD1457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 / Rh typing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+ reverse grouping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099816" y="24231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14674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69538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screen (IAT)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reagent screening cells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7562" y="24231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62421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17285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positive → antibody panel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specificity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95309" y="2423160"/>
            <a:ext cx="296570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10167" y="182880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65031" y="1828800"/>
            <a:ext cx="240487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&amp; crossmatch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antigen-negative units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429000"/>
            <a:ext cx="11057839" cy="960120"/>
          </a:xfrm>
          <a:prstGeom prst="roundRect">
            <a:avLst>
              <a:gd name="adj" fmla="val 857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" y="3429000"/>
            <a:ext cx="10509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&amp; timing:  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K₂EDTA (pink-top) sample; a fresh specimen is required every 3 days when the patient has been transfused or pregnant within the preceding 3 months, because a new antibody may have formed.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45720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(computer) crossmatch is acceptable only with a current negative antibody screen and no history of clinically significant antibodies.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serologic AHG crossmatch is required whenever the screen is positive or the patient has an antibody history.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PRETRANSFUSION 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Significant vs Insignificant Antibodies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SIGNIFICANT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at 37°C and/or the AHG phase — usually IgG.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causing hemolytic transfusion reactions and/or HDFN.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Rh, Kell, Kidd, Duffy, Ss, anti-U.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antigen-negative, crossmatch-compatible units.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INSIGNIFICANT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only at room temperature / immediate spin — usually IgM, 'cold'.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anti-M/N (often), anti-P1, anti-Lea/Leb, anti-I.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still matter if reactive at 37°C — then treat as significant.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Prewarm technique can confirm a purely cold antibody.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Panel Interpretation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PANEL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Antigram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PANEL GIVES YOU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 reagent cells with a printed antigen profile (the antigram).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cell scored across phases (IS / 37°C / AHG ± enzyme).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autocontrol (patient cells + patient plasma) run in parallel.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strengths matter — varying strength suggests multiple antibodies or dosage.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AUTOCONTROL LOGIC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autocontrol → think alloantibody(ies).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autocontrol → think autoantibody, recent transfusion, or drug.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autocontrol triggers a DAT and an autoantibody workup.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reconcile the panel with the patient’s transfusion/pregnancy history.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PANEL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Rule Out (on Homozygous Cells)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RULE-OUT PRINCIPLE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NON-reactive cells to eliminate antibodies whose antigen is present on that cell.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out the antigens present on each negative cell.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 only on HOMOZYGOUS (double-dose) cells for antigens that show dosage — a weak antibody may miss a single-dose cell.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rule out using a positive reaction.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LOGIC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Jk(a+b–) cell is homozygous for Jka — a non-reactive result safely rules out anti-Jka.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Jk(a+b+) cell is heterozygous — do NOT rule out anti-Jka on it (it may be too weakly expressed).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caution for Rh (C/c/E/e), Duffy, MNS — the dosage systems.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PANEL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Dosage Effect — Why Zygosity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Dosage = antibody reacts more strongly with cells carrying a double dose of antigen.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Kidd alleles are codominant: Jk(a+b+) cells express a single dose of each; Jk(a+b–) cells express a double dose of Jka.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anti-Jka may react strongly with Jk(a+b–) cells yet weakly or not at all with Jk(a+b+)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a genuine, dangerous antibody can hide on the screen.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THAT SHOW DOSAGE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Kidd (Jka, Jkb)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Duffy (Fya, Fyb)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(C, c, E, e)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MNS (M, N, S, s)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rule: confirm and rule out these antibodies on homozygous cells whenever possible.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PANEL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Rule In and the 3-and-3 Rule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OF THREE (3 + 3)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 a specificity, find at least 3 antigen-POSITIVE cells that react AND 3 antigen-NEGATIVE cells that do not.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achieves a statistically significant p value of ≈ 0.05 — i.e., the pattern is not chance.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screen, the panel, and selected cells together to reach the numbers.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 it cannot always be met perfectly — document the limitation.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THE PATTERN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uniform-strength pattern → likely one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strengths or a pattern that doesn’t fit one antigen → multiple antibodies or dosage.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patient is negative for the corresponding antigen (you cannot make an alloantibody to your own antigen).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select antigen-negative units and crossmatch.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PANEL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Panel — Multi-Antibody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1828800"/>
          </a:xfrm>
          <a:prstGeom prst="roundRect">
            <a:avLst>
              <a:gd name="adj" fmla="val 45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682496"/>
            <a:ext cx="10509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  (adapted from departmental teaching)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11680"/>
            <a:ext cx="10509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62-year-old woman (B Rh-positive), G3 with prior transfusions, needs 2 units for knee replacement. The screen is positive; the autocontrol is negative; Panel 1 shows reactions of varying strength that no single specificity fully explains.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11057839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04672" y="3657600"/>
            <a:ext cx="10600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PROCEED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3977640"/>
            <a:ext cx="1058235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autocontrol + varying strengths → suspect MULTIPLE alloantibodies (not an autoantibody).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 antibody identification panel; add selected cells to separate specificities.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enzyme-treated cells to enhance some (Rh, Kidd) and destroy others (Duffy, MNS) — a powerful separation tool.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 carefully on homozygous cells; satisfy 3-and-3 for each antibody you call.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Problem-Solving Tools</a:t>
            </a:r>
            <a:endParaRPr lang="en-US" sz="3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PROBLEM-SOLVING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 Effects — The Separation Tool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Enzymes (ficin / papain)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Blood-group antigens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ENHANCED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(D, C, c, E, e); Kidd (Jka, Jkb); Lewis; P1; I; ABO (carbohydrate antigens)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DESTROYED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Duffy (Fya, Fyb); MNS (M, N, S); Xga; some Lutheran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 / resistant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Kell (K, k) — but Kell IS destroyed by DTT / ZZAP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Enzymes modify the red-cell ANTIGEN, not the antibody. Classic use: an anti-Fya disappears on ficin-treated cells while an anti-Jka strengthens — separating a two-antibody mixture.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PROBLEM-SOLVING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DTT / ZZAP, Prewarm, and Selected Cells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&amp; PHYSICAL TECHNIQUES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DTT (dithiothreitol) denatures Kell antigens — a DTT-treated panel removes Kell reactivity to reveal an underlying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ZZAP (papain + DTT) removes both protein antigens and bound antibody — used to prepare cells for autoadsorption.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Prewarm technique helps confirm a purely cold (insignificant) antibody by avoiding low-temperature reactivity.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Enzymes (ficin/papain) sources: figs, papaya.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CELLS &amp; ELUTION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cells — reagent cells chosen for a specific antigen profile to confirm or exclude a suspected antibody and complete 3-and-3.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Elution — recovers antibody bound to the red cell (from a positive DAT) for identification.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Adsorption — removes an interfering antibody from plasma (auto- or allo-adsorption).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elution is common for warm autoantibody / HDFN workups.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PROBLEM-SOLVING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 and Low-Frequency Antibodies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ANTIGEN ANTIBODIES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to a near-universal antigen reacts with ALL panel cells (apparent panagglutinin) — but the autocontrol is negative.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Crossmatches are almost all incompatible; compatible units are rare.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up with rare antigen-negative cells; involve a reference laboratory.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anti-U, anti-k, anti-Kpb.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LOW-FREQUENCY ANTIGEN ANTIBODIES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to a rare antigen reacts with NO panel cells (screen/panel negative) — discovered as an unexpected incompatible crossmatch.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cause HDFN when the father carries the antigen.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found only when the antigen-positive donor cell is tested.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anti-Kpa, anti-Wra.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Blood-Group Systems</a:t>
            </a:r>
            <a:endParaRPr lang="en-US" sz="3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BLOOD-GROUP SYSTEMS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and Kell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(D, C, C, E, 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D, the most immunogenic protein antigens; IgG, react at AHG.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delayed and acute HTRs and HDFN.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Enzyme-enhanced; C/c/E/e show dosage (D does not).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 is preventable with Rh immune globulin (see Lecture 5).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 (K, K)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Anti-K is a common, clinically significant IgG antibody (AHG-reactive).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HTRs and SEVERE HDFN — partly by suppressing fetal erythropoiesis, so amniotic bilirubin underestimates severity.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antigen is resistant to ficin/papain but DESTROYED by DTT/ZZAP.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(Cellano) is high-frequency; anti-k is uncommon but important.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BLOOD-GROUP SYSTEMS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Kidd and Duffy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KIDD (JKA, JKB)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cause of DELAYED hemolytic transfusion reactions.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Notoriously EVANESCENT — titers fall below detection, so a prior antibody is missed at the next crossmatch.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weak; shows dosage; enzyme- and PEG-enhanced.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bind complement; rule out on homozygous cells.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DUFFY (FYA, FYB)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IgG, AHG-reactive; causes HTRs and HDFN; shows dosage.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Antigens are DESTROYED by enzymes — a key separation clue.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Fy(a–b–) phenotype confers resistance to Plasmodium vivax malaria (common in West African ancestry).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'Duffy dies' is the enzyme mnemonic pair with MNS.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BLOOD-GROUP SYSTEMS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MNS, Lewis, P1, and 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MNS AND LEWIS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N — often IgM, cold, frequently insignificant; enzyme-destroyed; significant only if reactive at 37°C.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S, s, U — IgG, clinically significant; anti-U in U-negative (African ancestry) patients.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(Lea, Leb) — IgM, naturally occurring, usually insignificant; enzyme-enhanced.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antibodies do not cause HDFN (antigens not developed on cord cells; antibodies are IgM).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AND I (COLD SYSTEMS)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Anti-P1 — IgM, cold, usually insignificant.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 — cold autoagglutinin; benign in many, but high-titer in cold agglutinin disease and after Mycoplasma pneumoniae.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 — associated with infectious mononucleosis (EBV).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 (Donath-Landsteiner) — biphasic IgG of paroxysmal cold hemoglobinuria.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SYNTHESIS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Blood-Group Systems at a Glance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2103120"/>
                <a:gridCol w="1463040"/>
                <a:gridCol w="319125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 / phase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Enzymes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/ AHG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Enhanced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C/c/E/e dosage; highly immunogenic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/ AHG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Resistant (DTT destroys)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Suppresses fetal erythropoiesis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/ AHG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Enhanced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Delayed HTR; evanescent; dosage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Duffy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/ AHG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Destroyed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Fy(a–b–) → vivax resistance; dosage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M/N IgM; S/s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M/N/S destroyed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S/s/U 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Anti-U in U-negative patients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IgM / 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Enhanced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Naturally occurring; usually insignificant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/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IgM / cold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Cold; anti-I in cold agglutinin 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SIX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Autoantibodies &amp; the Positive DAT</a:t>
            </a:r>
            <a:endParaRPr lang="en-US" sz="3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POSITIVE DAT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Autoimmune Hemolytic Anemia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SEROLOGIC PICTURE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IgG autoantibody reactive at 37°C / AHG; DAT positive for IgG (± C3).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Reacts with ALL panel cells and a POSITIVE autocontrol — a panagglutinin.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Spherocytes on the smear; extravascular (splenic) hemolysis.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idiopathic; may accompany lymphoproliferative or autoimmune disease or drugs.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 IT HIDES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autoantibody can MASK an underlying alloantibody — the real transfusion risk.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determine whether a clinically significant alloantibody is also present.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adsorption to remove the autoantibody and reveal alloantibodies (next slide).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phenotypically matched / least-incompatible units in consultation.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POSITIVE DAT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Unmasking Alloantibodies: Adsorption &amp; Elution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023360"/>
          </a:xfrm>
          <a:prstGeom prst="roundRect">
            <a:avLst>
              <a:gd name="adj" fmla="val 204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ADSORPTION (clear the plasma)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Autoadsorption — remove autoantibody using the patient’s OWN enzyme/ZZAP-treated cells; valid only if NOT recently transfused.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Recently transfused? Use alloadsorption with cells of known phenotype to avoid removing alloantibody on circulating donor cells.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adsorption, retest the plasma — any remaining reactivity is alloantibody.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central technique of the warm-autoantibody workup.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ELUTION (recover bound antibody)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Elution strips antibody off DAT-positive cells so it can be identified on a panel.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elution is the common general method.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recently transfused patient with a positive DAT, an eluate can reveal an alloantibody coating transfused donor cells (a delayed reaction).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HDFN, the eluate identifies the maternal antibody on neonatal cells.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POSITIVE DAT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 Disease &amp; PCH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 DISEASE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autoantibody, usually anti-I, reactive in the cold; fixes complement.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positive for C3d (IgM elutes off in vivo, leaving complement).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thermal amplitude (reactivity near 37°C) predicts clinical hemolysis.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to Mycoplasma pneumoniae or lymphoproliferative disease; use prewarm technique and keep the patient warm.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COLD HEMOGLOBINURIA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Biphasic IgG autoantibody (Donath-Landsteiner), classically anti-P.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Binds in the cold, activates complement on warming → intravascular hemolysis.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post-viral in children.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 with the Donath-Landsteiner biphasic hemolysin test.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POSITIVE DAT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Up a Positive DAT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69768" y="1664208"/>
            <a:ext cx="5852160" cy="548640"/>
          </a:xfrm>
          <a:prstGeom prst="roundRect">
            <a:avLst>
              <a:gd name="adj" fmla="val 11667"/>
            </a:avLst>
          </a:prstGeom>
          <a:solidFill>
            <a:srgbClr val="0E3A5F"/>
          </a:solidFill>
          <a:ln w="15875">
            <a:solidFill>
              <a:srgbClr val="0E3A5F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24632" y="1664208"/>
            <a:ext cx="574243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DAT  →  monospecific anti-IgG and anti-C3d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5848" y="2231136"/>
            <a:ext cx="0" cy="18288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57339" y="2414016"/>
            <a:ext cx="7077017" cy="0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557339" y="2414016"/>
            <a:ext cx="0" cy="201168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1419" y="2633472"/>
            <a:ext cx="3291840" cy="457200"/>
          </a:xfrm>
          <a:prstGeom prst="roundRect">
            <a:avLst>
              <a:gd name="adj" fmla="val 14000"/>
            </a:avLst>
          </a:prstGeom>
          <a:solidFill>
            <a:srgbClr val="AD1457"/>
          </a:solidFill>
          <a:ln w="15875">
            <a:solidFill>
              <a:srgbClr val="AD1457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6283" y="2633472"/>
            <a:ext cx="3182112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IgG positive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1419" y="3200400"/>
            <a:ext cx="3291840" cy="2194560"/>
          </a:xfrm>
          <a:prstGeom prst="roundRect">
            <a:avLst>
              <a:gd name="adj" fmla="val 375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12587" y="3346704"/>
            <a:ext cx="28895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AIHA or drug-induced — elute and identify; assess for alloantibody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95848" y="2414016"/>
            <a:ext cx="0" cy="201168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449928" y="2633472"/>
            <a:ext cx="3291840" cy="457200"/>
          </a:xfrm>
          <a:prstGeom prst="roundRect">
            <a:avLst>
              <a:gd name="adj" fmla="val 14000"/>
            </a:avLst>
          </a:prstGeom>
          <a:solidFill>
            <a:srgbClr val="AD1457"/>
          </a:solidFill>
          <a:ln w="15875">
            <a:solidFill>
              <a:srgbClr val="AD1457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04792" y="2633472"/>
            <a:ext cx="3182112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IgG + C3d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49928" y="3200400"/>
            <a:ext cx="3291840" cy="2194560"/>
          </a:xfrm>
          <a:prstGeom prst="roundRect">
            <a:avLst>
              <a:gd name="adj" fmla="val 375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51096" y="3346704"/>
            <a:ext cx="28895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AIHA (often) — full autoantibody workup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34356" y="2414016"/>
            <a:ext cx="0" cy="201168"/>
          </a:xfrm>
          <a:prstGeom prst="line">
            <a:avLst/>
          </a:prstGeom>
          <a:noFill/>
          <a:ln w="22225">
            <a:solidFill>
              <a:srgbClr val="AD145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988436" y="2633472"/>
            <a:ext cx="3291840" cy="457200"/>
          </a:xfrm>
          <a:prstGeom prst="roundRect">
            <a:avLst>
              <a:gd name="adj" fmla="val 14000"/>
            </a:avLst>
          </a:prstGeom>
          <a:solidFill>
            <a:srgbClr val="AD1457"/>
          </a:solidFill>
          <a:ln w="15875">
            <a:solidFill>
              <a:srgbClr val="AD1457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043300" y="2633472"/>
            <a:ext cx="3182112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C3d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88436" y="3200400"/>
            <a:ext cx="3291840" cy="2194560"/>
          </a:xfrm>
          <a:prstGeom prst="roundRect">
            <a:avLst>
              <a:gd name="adj" fmla="val 375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189604" y="3346704"/>
            <a:ext cx="28895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 disease or PCH — thermal amplitude, prewarm, D-L test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54864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correlate with hemolysis labs and the transfusion / drug history — a positive DAT alone does not equal hemolysis.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SEVEN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panel shows AHG-phase reactivity with every cell that types K-positive and no reactivity with K-negative cells. There are 4 reactive K+ cells and 5 non-reactive K– cells. The autocontrol is negative; the patient types K-negative.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antibody, is the identification statistically adequate, and what units do you provide?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Anti-K (Anti-Kell)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Anti-K — reactivity follows the K antigen exactly, with a negative autocontrol (alloantibody).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adequate: ≥ 3 antigen-positive reactive and ≥ 3 antigen-negative non-reactive cells satisfy the 3-and-3 rule (p ≈ 0.05).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K-negative patient can form anti-K — consistent with prior transfusion/pregnancy.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K-negative, AHG-crossmatch-compatible red cells.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Anti-K is a common, significant IgG antibody and a cause of severe HDFN; remember K is enzyme-resistant but DTT-sensitive.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multiply-transfused woman has a positive screen, a NEGATIVE autocontrol, and panel reactions of varying strength. On ficin-treated cells some reactions disappear while others strengthen. No single specificity explains the untreated panel.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enzyme behavior tell you, and how do you resolve the panel?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Multiple Alloantibodies (Enzyme Separation)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strengths + negative autocontrol = multiple alloantibodies (not autoimmune).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that DISAPPEAR on ficin point to Duffy or MNS (enzyme-destroyed).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that STRENGTHEN on ficin point to Rh or Kidd (enzyme-enhanced) — e.g., a hidden anti-Jka.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enzyme and selected cells to isolate each specificity; rule out on homozygous cells and satisfy 3-and-3 for each.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Enzymes are a separation tool: 'Duffy/MNS die, Rh/Kidd thrive.' Differential enzyme behavior unmasks a two-antibody mixture.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new anemia and jaundice has a panagglutinin reacting with all cells at AHG, a POSITIVE autocontrol, and a DAT positive for IgG. Spherocytes are seen on the smear. The patient was transfused 2 weeks ago.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happening, what is the transfusion-safety concern, and what technique resolves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Warm Autoantibody (Masking Question)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autoimmune hemolytic anemia — IgG panagglutinin with a positive autocontrol and DAT.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concern: a clinically significant ALLOANTIBODY may be hidden beneath the autoantibody.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transfusion means autoadsorption is unsafe — use ALLOADSORPTION with known-phenotype cells.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adsorption, identify any underlying alloantibody and provide antigen-negative, least-incompatible units in consultation.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warm AIHA, the job is not just naming the autoantibody — it is excluding (or finding) the alloantibody underneath. Adsorption is the key tool.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EIGHT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panel workup, an antibody reacts with untreated cells but the reaction is abolished on ficin-treated cells. Which specificity is most consistent?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Anti-Jka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Anti-Fya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Anti-K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Anti-Lea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anti-Jka reacts strongly with Jk(a+b–) cells but weakly or negatively with Jk(a+b+) cells. What property explains this, and what is the practical rule?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Prozone; dilute the serum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Dosage effect; rule out only on homozygous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cold antibody; prewarm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Complement interference; use EDTA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Rouleaux; saline replacement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anemia after Mycoplasma pneumoniae has a DAT positive for C3d only and a high-titer cold agglutinin. Which antibody specificity is most likely?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Anti-P (Donath-Landsteiner)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Anti-K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Anti-Jka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Anti-D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an antibody specificity with statistical confidence (p ≈ 0.05), the minimum cell requirement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1 positive and 1 negative cell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2 positive and 2 negative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3 antigen-positive reactive and 3 antigen-negative non-reactive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5 positive cells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All panel cells must react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7335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panels systematically: rule out on homozygous cells, rule in to the 3-and-3 rule, confirm the patient is antigen-negative.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34086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49631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34086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Dosage (Kidd, Duffy, Rh, MNS) lets real antibodies hide on heterozygous cells — rule out only on homozygous cells.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31927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16382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Enzymes separate mixtures: they enhance Rh/Kidd/Lewis/P1/I and destroy Duffy/MNS; Kell resists enzymes but is destroyed by DTT.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398678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14223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398678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autocontrol/DAT shifts the workup to autoimmune — use IgG vs C3d to separate warm AIHA from cold agglutinin/PCH.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0974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496519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480974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warm AIHA, adsorption to exclude a masked alloantibody is the central safety step; elution identifies cell-bound antibody.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5632704"/>
            <a:ext cx="11057839" cy="676656"/>
          </a:xfrm>
          <a:prstGeom prst="roundRect">
            <a:avLst>
              <a:gd name="adj" fmla="val 945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9808" y="578815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9808" y="5788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80160" y="5632704"/>
            <a:ext cx="101434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Kidd causes delayed HTRs and is evanescent; Kell causes severe HDFN — honor the antibody history even when the screen is negative.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Cohn CS, et al. (eds). AABB Technical Manual, 20th ed. AABB Press, 2020 (antibody identification; antiglobulin testing).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Fung MK, et al. (eds). AABB Standards for Blood Banks and Transfusion Services (current edition).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Harmening DM. Modern Blood Banking &amp; Transfusion Practices, 7th ed. F.A. Davis, 2019 (Ch. 5, 9).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Reid ME, Lomas-Francis C, Olsson ML. The Blood Group Antigen FactsBook, 3rd ed. Academic Press, 2012.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an antibody specificity with statistical confidence (p ≈ 0.05), the minimum cell requirement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1 positive and 1 negative cell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2 positive and 2 negative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3 antigen-positive reactive and 3 antigen-negative non-reactive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5 positive cells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All panel cells must react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3 reactive antigen-positive and 3 non-reactive antigen-negative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of three gives a p value of approximately 0.05 — three antigen-positive cells that react and three antigen-negative cells that do not, confirming the pattern is not chance.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anemia after Mycoplasma pneumoniae has a DAT positive for C3d only and a high-titer cold agglutinin. Which antibody specificity is most likely?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Anti-P (Donath-Landsteiner)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Anti-K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Anti-Jka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Anti-D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Anti-I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 disease, classically post-Mycoplasma, is usually IgM anti-I that fixes complement; the IgM elutes in vivo leaving C3d on the DAT. Anti-P (biphasic) causes PCH.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anti-Jka reacts strongly with Jk(a+b–) cells but weakly or negatively with Jk(a+b+) cells. What property explains this, and what is the practical rule?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Prozone; dilute the serum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Dosage effect; rule out only on homozygous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cold antibody; prewarm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Complement interference; use EDTA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Rouleaux; saline replacement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Dosage; rule out on homozygous cells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Kidd shows dosage: Jk(a+b–) is double-dose Jka and reacts more strongly than single-dose Jk(a+b+). Antibodies to dosage systems (Kidd, Duffy, Rh, MNS) must be ruled out on homozygous cells.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panel workup, an antibody reacts with untreated cells but the reaction is abolished on ficin-treated cells. Which specificity is most consistent?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Anti-Jka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Anti-Fya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Anti-K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Anti-Lea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Anti-Fya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Ficin/papain destroy Duffy (and MNS) antigens, abolishing their reactivity, while enhancing Rh, Kidd, Lewis, P1, and I. Kell is enzyme-resistant. So loss on ficin points to Duffy.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Antibody Identification and Complex Serology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2026-06-28T05:59:39Z</dcterms:created>
  <dcterms:modified xsi:type="dcterms:W3CDTF">2026-06-28T05:59:39Z</dcterms:modified>
</cp:coreProperties>
</file>