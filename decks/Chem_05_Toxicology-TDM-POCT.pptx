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188720"/>
            <a:ext cx="4480560" cy="4480560"/>
          </a:xfrm>
          <a:prstGeom prst="ellipse">
            <a:avLst/>
          </a:prstGeom>
          <a:solidFill>
            <a:srgbClr val="1565C0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2743200"/>
            <a:ext cx="2468880" cy="2468880"/>
          </a:xfrm>
          <a:prstGeom prst="ellipse">
            <a:avLst/>
          </a:prstGeom>
          <a:solidFill>
            <a:srgbClr val="1565C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3611880"/>
            <a:ext cx="1143000" cy="1143000"/>
          </a:xfrm>
          <a:prstGeom prst="ellipse">
            <a:avLst/>
          </a:prstGeom>
          <a:solidFill>
            <a:srgbClr val="1565C0">
              <a:alpha val="4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078992"/>
            <a:ext cx="5532120" cy="420624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078992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LECTURE SERIES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·  LECTURE 5 OF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Toxicology, TDM &amp; Point-of-Care Testing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66928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vs Confirmation, Drug Monitoring, and Governance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" y="5074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Tamima El-Jisr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Chairperson, Department of Laboratory Medicine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Hospital, Beirut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99855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Curriculum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FRAMING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positive drug screen is presumptive until mass spectrometry confirms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4314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44314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Trough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90618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therapeutic drug monitoring is interpreted at steady-state trough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1701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21701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POCT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68005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Point-of-care testing needs the same oversight as the main lab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42900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3611880"/>
            <a:ext cx="105091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Toxicology and TDM are interpretation-and-governance disciplines: knowing the difference between a screen and a confirmation, when to sample, and how to keep decentralized testing safe.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Cross-reactivity makes screens fast but fallible — never report a definitive toxicology result on an immunoassay screen alone.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69008"/>
            <a:ext cx="420624" cy="420624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screening immunoassays from confirmatory mass spectrometry.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9896" y="1969008"/>
            <a:ext cx="420624" cy="420624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98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651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common drug-screen cross-reactivities and pitfalls.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8096" y="3639312"/>
            <a:ext cx="420624" cy="420624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therapeutic drug monitoring principles (steady state, trough/peak).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87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9896" y="3639312"/>
            <a:ext cx="420624" cy="420624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798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651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point-of-care testing governance and quality requirements.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" y="5309616"/>
            <a:ext cx="420624" cy="420624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80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method validation essentials for new assays.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7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79896" y="5309616"/>
            <a:ext cx="420624" cy="420624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798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651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reference intervals and critical-value reporting.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WHAT WE WILL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82496"/>
            <a:ext cx="384048" cy="38404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481328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Toxicology testing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screen vs confirm; cross-reactivity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432304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633472"/>
            <a:ext cx="384048" cy="38404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432304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Therapeutic drug monitoring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sampling and interpretation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383280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Point-of-care testing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governance and quality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334256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535424"/>
            <a:ext cx="384048" cy="38404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334256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essentials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performance characteristics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285232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5486400"/>
            <a:ext cx="384048" cy="38404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285232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4A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7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Toxicology: Screen vs Confirm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TOXICOLOGY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and Confirmation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49528" y="1481328"/>
            <a:ext cx="9692640" cy="3602736"/>
          </a:xfrm>
          <a:prstGeom prst="roundRect">
            <a:avLst>
              <a:gd name="adj" fmla="val 2284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pic>
        <p:nvPicPr>
          <p:cNvPr id="5" name="Image 0" descr="/tmp/cp_work2/art/chem_t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7544" y="1609344"/>
            <a:ext cx="9436608" cy="33467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157216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Immunoassay screens are presumptive; GC-MS / LC-MS/MS provide definitive identification and quantitation.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TOXICOLOGY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Cross-Reactivity and Pitfalls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&amp; NEGATIVES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Immunoassays cross-react: e.g., some antihistamines/decongestants with amphetamines; certain quinolones with opiates.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Opiate screens may miss synthetic/semisynthetic opioids (fentanyl, oxycodone) — use targeted assays.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Adulteration/dilution affects urine drug screens (check creatinine, pH, oxidants).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screen does not exclude all drugs.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GC-MS and LC-MS/MS identify and quantify specific compounds.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any result with clinical, forensic, or employment consequences.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cross-reactivity by exact mass / fragmentation.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presumptive vs confirmed clearly.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4A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7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Therapeutic Drug Monitoring &amp; POCT</a:t>
            </a:r>
            <a:endParaRPr lang="en-US" sz="3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TDM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of Drug Monitoring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AND WHAT TO SAMPLE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drugs with a narrow therapeutic index (e.g., vancomycin, aminoglycosides, digoxin, lithium, certain antiepileptics, immunosuppressants).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at STEADY STATE (~5 half-lives) unless assessing toxicity.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Trough (just before the next dose) for most agents; specific peak/AUC for aminoglycosides/vancomycin.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Digoxin: draw ≥ 6–8 h post-dose to avoid the distribution phase.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CAVEATS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(unbound) drug matters when protein binding changes (e.g., phenytoin in hypoalbuminemia/uremia).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metabolites may not be measured by the assay.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errors are the commonest cause of misinterpretation.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level with clinical effect and toxicity.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POCT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Point-of-Care Testing Governance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GOVERNANCE MATTERS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POCT is performed by non-laboratorians across many sites — the error surface is large.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operator training/competency, QC, connectivity, and result documentation.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 verification and reagent storage are common failure points.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Oversight sits with the laboratory medical director under CLIA/accreditation.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REQUIREMENTS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QC frequency and lockout for failed QC.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central-lab methods (method comparison).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Critical-value communication pathways from the bedside.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capture into the LIS/EHR for traceability.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4A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7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Cases &amp; Board</a:t>
            </a:r>
            <a:endParaRPr lang="en-US" sz="3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Validation Essentials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7839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397496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Characteristic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establishes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/ trueness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Agreement with a reference or comparative 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Repeatability and reproducibility (within/between run)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Analytical sensitivity / LoD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 reliably detected concentration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Analytical specificity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Freedom from interference / cross-reactivity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Linearity / reportable 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over which results are valid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interval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44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values in the relevant population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016752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FDA-cleared assays require verification; laboratory-developed tests require full validation before clinical use.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CASE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pre-employment urine drug screen is positive for amphetamines. The donor takes an over-the-counter decongestant and denies stimulant use. The sample is sent for confirmatory testing.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the laboratory handle the discrepancy, and what does confirmation add?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CASE 1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Presumptive Positive Screen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immunoassay screen is presumptive and cross-reacts with sympathomimetics like some decongestants.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Definitive results require GC-MS or LC-MS/MS confirmation.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distinguishes true amphetamine/methamphetamine from cross-reacting compounds.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screen results as presumptive and act only on confirmed results in consequential settings.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release a consequential toxicology result on a screen alone — confirm by mass spectrometry, which resolves cross-reactivity.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CASE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on phenytoin with hypoalbuminemia has a low-normal TOTAL phenytoin level but clinical signs of toxicity (nystagmus, ataxia).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the total level misleading, and what test clarifies the situation?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CASE 2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Free Phenytoin in Hypoalbuminemia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Phenytoin is highly protein-bound; in hypoalbuminemia the free (active) fraction rises while total drug appears normal/low.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is clinically toxic because free drug is elevated.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FREE phenytoin (or use a correction such as the Sheiner-Tozer estimate).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dosing to the free level and clinical effect.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highly protein-bound drugs in altered binding states (low albumin, uremia), interpret the FREE level, not the total.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urine immunoassay is positive for opiates but the patient only takes oxycodone. The most likely explanation is: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A true positive for morphine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Opiate immunoassays may not reliably detect semisynthetic/synthetic opioids; targeted testing/confirmation is needed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Sample adulteration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The hook effect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Heterophile antibody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Screens may miss semisynthetic/synthetic opioids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opiate immunoassays are calibrated to morphine/codeine and can under-detect oxycodone/fentanyl; targeted assays or LC-MS/MS are required.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should a trough level generally be drawn for routine therapeutic drug monitoring?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Immediately after the first dose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At the peak after any dose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At steady state, just before the next dose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Randomly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Only when toxicity is suspected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At steady state, pre-dose (trough)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 (~5 half-lives) with a pre-dose trough gives the most interpretable, reproducible level for most monitored drugs.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laboratory-developed test (not FDA-cleared) is being introduced. Before clinical use it requires: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Verification of manufacturer claims only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Full validation of accuracy, precision, sensitivity, specificity, linearity, and reference interval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No additional study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Only a reference interval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Only proficiency testing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Full validation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FDA-cleared assays require verification; laboratory-developed tests require full validation of all performance characteristics before clinical reporting.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Take-Home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55648"/>
            <a:ext cx="365760" cy="365760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17904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screens are presumptive and cross-react; confirm consequential results by GC-MS / LC-MS/MS.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505456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743200"/>
            <a:ext cx="365760" cy="365760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505456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opiate screens can miss synthetic/semisynthetic opioids — use targeted assays when needed.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493008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730752"/>
            <a:ext cx="365760" cy="365760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493008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TDM: sample at steady state, usually as a trough; interpret FREE drug when protein binding is altered.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718304"/>
            <a:ext cx="365760" cy="365760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718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POCT needs the same governance as the main lab: competency, QC, correlation, connectivity, and director oversight.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468112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5705856"/>
            <a:ext cx="365760" cy="365760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468112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laboratory-developed tests fully (accuracy, precision, LoD, specificity, linearity, reference interval); verify FDA-cleared assays.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REFERENCES &amp; FURTHER READING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82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Rifai N, et al. Tietz Textbook of Clinical Chemistry, 6th ed. Elsevier, 2018.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CLSI EP15/EP06/EP07: Precision, Linearity, and Interference verification/validation.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Clarke W (ed). Contemporary Practice in Clinical Chemistry, AACC Press.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CLSI POCT documents (POCT governance and quality).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Toxicology, TDM &amp; Point-of-Care Testing</dc:title>
  <dc:subject>PptxGenJS Presentation</dc:subject>
  <dc:creator>Makassed General Hospital — Department of Laboratory Medicine</dc:creator>
  <cp:lastModifiedBy>Makassed General Hospital — Department of Laboratory Medicine</cp:lastModifiedBy>
  <cp:revision>1</cp:revision>
  <dcterms:created xsi:type="dcterms:W3CDTF">2026-06-28T05:36:57Z</dcterms:created>
  <dcterms:modified xsi:type="dcterms:W3CDTF">2026-06-28T05:36:57Z</dcterms:modified>
</cp:coreProperties>
</file>