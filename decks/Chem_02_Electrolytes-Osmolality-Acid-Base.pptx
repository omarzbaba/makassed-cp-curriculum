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52560" y="1188720"/>
            <a:ext cx="4480560" cy="4480560"/>
          </a:xfrm>
          <a:prstGeom prst="ellipse">
            <a:avLst/>
          </a:prstGeom>
          <a:solidFill>
            <a:srgbClr val="1565C0">
              <a:alpha val="14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058400" y="2743200"/>
            <a:ext cx="2468880" cy="2468880"/>
          </a:xfrm>
          <a:prstGeom prst="ellipse">
            <a:avLst/>
          </a:prstGeom>
          <a:solidFill>
            <a:srgbClr val="1565C0">
              <a:alpha val="22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10835640" y="3611880"/>
            <a:ext cx="1143000" cy="1143000"/>
          </a:xfrm>
          <a:prstGeom prst="ellipse">
            <a:avLst/>
          </a:prstGeom>
          <a:solidFill>
            <a:srgbClr val="1565C0">
              <a:alpha val="4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566928" y="1078992"/>
            <a:ext cx="5532120" cy="42062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1078992"/>
            <a:ext cx="55321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spc="11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LECTURE SERIES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66928" y="181051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0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·  LECTURE 2 OF 5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66928" y="2286000"/>
            <a:ext cx="85953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Electrolytes, Osmolality &amp; Acid-Base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566928" y="3840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dirty="0">
                <a:solidFill>
                  <a:srgbClr val="BF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Tonicity, Gaps, and a Stepwise Interpretation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566928" y="50749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Tamima El-Jisr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Chairperson, Department of Laboratory Medicine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9DB1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Hospital, Beirut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899855" y="5989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DA0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Pathology Residency Curriculum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FRAMING 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66928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713232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anion gap is the fastest fork in a metabolic acidosis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44314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4344314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Tonicity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4490618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 disorders are about water, not salt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121701" y="1554480"/>
            <a:ext cx="3503066" cy="1554480"/>
          </a:xfrm>
          <a:prstGeom prst="roundRect">
            <a:avLst>
              <a:gd name="adj" fmla="val 5294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121701" y="1700784"/>
            <a:ext cx="350306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8268005" y="2468880"/>
            <a:ext cx="321045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Compensation rules reveal disorders hiding behind a normal pH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11057839" cy="1371600"/>
          </a:xfrm>
          <a:prstGeom prst="roundRect">
            <a:avLst>
              <a:gd name="adj" fmla="val 6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841248" y="3611880"/>
            <a:ext cx="1050919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Electrolyte and acid-base interpretation is pure pattern recognition once you have a system. The laboratory adds the gaps — anion and osmolal — that turn a number panel into a diagnosis.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566928" y="5029200"/>
            <a:ext cx="1105783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ask: is the pH change explained by one primary disorder with appropriate compensation, or is a second disorder hiding?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·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 Objectives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1969008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80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533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Approach hypo- and hypernatremia using tonicity.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78728" y="1481328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79896" y="1969008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79896" y="19690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065112" y="1481328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 and interpret the anion gap and the delta-delta.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68096" y="3639312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680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533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osmolal gap to detect toxic alcohols.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78728" y="3151632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79896" y="3639312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479896" y="3639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7065112" y="3151632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a stepwise acid-base method and compensation rules.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68096" y="5309616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680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533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mixed acid-base disorders.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78728" y="4821936"/>
            <a:ext cx="5346040" cy="1395984"/>
          </a:xfrm>
          <a:prstGeom prst="roundRect">
            <a:avLst>
              <a:gd name="adj" fmla="val 589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9896" y="5309616"/>
            <a:ext cx="420624" cy="420624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479896" y="53096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65112" y="4821936"/>
            <a:ext cx="4385920" cy="1395984"/>
          </a:xfrm>
          <a:prstGeom prst="rect">
            <a:avLst/>
          </a:prstGeom>
          <a:noFill/>
          <a:ln/>
        </p:spPr>
        <p:txBody>
          <a:bodyPr wrap="square" lIns="38100" tIns="38100" rIns="38100" bIns="3810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pseudohyponatremia and its mechanism.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WHAT WE WILL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481328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1682496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682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98448" y="1481328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 &amp; tonicity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hypo- and hypernatremia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66928" y="2432304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633472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98448" y="2432304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anion &amp; osmolal gaps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high-gap acidosis, toxic alcohols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383280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49808" y="3584448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5844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98448" y="3383280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Stepwise acid-base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primary disorder + compensation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66928" y="4334256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535424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5354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98448" y="4334256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disorders</a:t>
            </a:r>
            <a:pPr algn="l" indent="0" marL="0">
              <a:buNone/>
            </a:pPr>
            <a:r>
              <a:rPr lang="en-US" sz="1200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—  delta-delta and traps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66928" y="5285232"/>
            <a:ext cx="11057839" cy="786384"/>
          </a:xfrm>
          <a:prstGeom prst="roundRect">
            <a:avLst>
              <a:gd name="adj" fmla="val 10465"/>
            </a:avLst>
          </a:prstGeom>
          <a:solidFill>
            <a:srgbClr val="F3F7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5486400"/>
            <a:ext cx="384048" cy="384048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98448" y="5285232"/>
            <a:ext cx="10143439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4A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7E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ONE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Sodium, Water &amp; Osmolality</a:t>
            </a:r>
            <a:endParaRPr lang="en-US" sz="3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SODIUM &amp; TONICITY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Hyponatremia — A Water Problem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FRAMEWORK BY TONICITY &amp; VOLUME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confirm true (hypotonic) hyponatremia by serum osmolality.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Hypovolemic: renal vs extrarenal losses (urine Na helps).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Euvolemic: SIADH, hypothyroidism, glucocorticoid deficiency.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Hypervolemic: heart failure, cirrhosis, nephrotic, renal failure.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PSEUDO- AND TRANSLOCATIONAL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Pseudohyponatremia: severe lipemia or paraproteinemia with INDIRECT ISE (electrolyte excluded by displaced plasma water).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ISE (blood gas analyzer) is unaffected — a useful cross-check.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Translocational: hyperglycemia draws water out, lowering measured sodium (correct ~2.4 mmol/L per 5.5 mmol/L glucose).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interpret sodium with glucose and osmolality.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SODIUM &amp; TONICITY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Hypernatremia and the Osmolal Gap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HYPERNATREMIA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a water deficit relative to sodium — impaired intake or excess free-water loss.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Diabetes insipidus (central vs nephrogenic) → dilute urine despite high serum osmolality.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Osmotic diuresis, GI losses, insensible losses.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Urine osmolality distinguishes renal from extrarenal water loss.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OSMOLAL GAP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Osmolal gap = measured − calculated osmolality (calc = 2×Na + glucose/18 + BUN/2.8).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 gap (&gt;10) suggests an unmeasured osmole.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alcohols (methanol, ethylene glycol) raise the gap early and the anion gap later.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Ethanol is the commonest cause of an elevated osmolal gap.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4A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7E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TWO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Acid-Base Interpretation</a:t>
            </a:r>
            <a:endParaRPr lang="en-US" sz="3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ACID-BASE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Stepwise Acid-Base Method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066648" y="1481328"/>
            <a:ext cx="10058400" cy="4288536"/>
          </a:xfrm>
          <a:prstGeom prst="roundRect">
            <a:avLst>
              <a:gd name="adj" fmla="val 1919"/>
            </a:avLst>
          </a:prstGeom>
          <a:solidFill>
            <a:srgbClr val="FFFFFF"/>
          </a:solidFill>
          <a:ln w="12700">
            <a:solidFill>
              <a:srgbClr val="DCE4EC"/>
            </a:solidFill>
            <a:prstDash val="solid"/>
          </a:ln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pic>
        <p:nvPicPr>
          <p:cNvPr id="5" name="Image 0" descr="/tmp/cp_work2/art/chem_acidb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94664" y="1609344"/>
            <a:ext cx="9802368" cy="403250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5843016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Original schematic. Work pH → primary disorder → anion gap → compensation, in order, every time.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ACID-BASE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Disorders &amp; Expected Compensation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463040"/>
          <a:ext cx="11057839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743200"/>
                <a:gridCol w="5202936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Primary change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compensation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5C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Metabolic acidosis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 HCO₃⁻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Winter: PaCO₂ = 1.5×HCO₃ + 8 ±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Metabolic alkalosis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HCO₃⁻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PaCO₂ rises ~0.7 mmHg per 1 mmol/L HCO₃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Respiratory acidosis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 PaCO₂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HCO₃ ↑ (acute ~1, chronic ~3.5 per 10 PaCO₂)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7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B2A3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Respiratory alkalosis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 PaCO₂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3444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HCO₃ ↓ (acute ~2, chronic ~4–5 per 10 PaCO₂)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66928" y="6016752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6B7B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measured compensation deviates from predicted, a second (mixed) disorder is present.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ACID-BASE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vs Normal Anion Gap &amp; the Delta-Delta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ANION GAP ACIDOSIS (MUDPILES)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046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Methanol, Uremia, DKA, Propylene glycol, Iron/INH, Lactate, Ethylene glycol, Salicylates.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Lactate and ketoacids are the everyday causes.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Toxic alcohols add an osmolal gap.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Salicylate classically causes a mixed high-gap acidosis + respiratory alkalosis.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78728" y="1517904"/>
            <a:ext cx="5346040" cy="4114800"/>
          </a:xfrm>
          <a:prstGeom prst="roundRect">
            <a:avLst>
              <a:gd name="adj" fmla="val 2000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16472" y="1682496"/>
            <a:ext cx="488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NORMAL-GAP &amp; DELTA-DELTA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16472" y="2029968"/>
            <a:ext cx="4870552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(hyperchloremic) gap: GI bicarbonate loss (diarrhea) or renal tubular acidosis.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Delta-delta compares the rise in anion gap to the fall in bicarbonate.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Δgap ≪ ΔHCO₃ → coexisting normal-gap acidosis; Δgap ≫ ΔHCO₃ → coexisting metabolic alkalosis.</a:t>
            </a:r>
            <a:endParaRPr lang="en-US" sz="125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it to uncover mixed disorders.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4A9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754880" cy="4754880"/>
          </a:xfrm>
          <a:prstGeom prst="ellipse">
            <a:avLst/>
          </a:prstGeom>
          <a:solidFill>
            <a:srgbClr val="FFFFFF">
              <a:alpha val="8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3931920"/>
            <a:ext cx="3108960" cy="3108960"/>
          </a:xfrm>
          <a:prstGeom prst="ellipse">
            <a:avLst/>
          </a:prstGeom>
          <a:solidFill>
            <a:srgbClr val="FFFFFF">
              <a:alpha val="6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783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E7EF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566928" y="3246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250" kern="0" dirty="0">
                <a:solidFill>
                  <a:srgbClr val="F2C9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THREE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66928" y="361188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Cases &amp; Board Review</a:t>
            </a:r>
            <a:endParaRPr lang="en-US" sz="3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intoxicated patient has a high anion gap metabolic acidosis and a markedly elevated osmolal gap. Ethanol is undetectable. Calcium oxalate crystals are seen in the urine.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the diagnosis, and why are both gaps elevated?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1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1: Ethylene Glycol Toxicity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Ethylene glycol ingestion — a toxic alcohol.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alcohol raises the OSMOLAL gap early; metabolism to acids raises the ANION gap later.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Calcium oxalate crystalluria supports ethylene glycol.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Time-dependent: as the alcohol is metabolized, the osmolal gap falls and the anion gap rises.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combined osmolal + anion gap acidosis is toxic alcohol until proven otherwise — the two gaps evolve in opposite directions over time.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2788920"/>
          </a:xfrm>
          <a:prstGeom prst="roundRect">
            <a:avLst>
              <a:gd name="adj" fmla="val 2951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41248" y="1700784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VIGNETTE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41248" y="2029968"/>
            <a:ext cx="10509199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4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with severe hypertriglyceridemia has a sodium of 122 mmol/L by the main chemistry analyzer, but 139 mmol/L on the blood gas analyzer. Serum osmolality is normal.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566928" y="4553712"/>
            <a:ext cx="11057839" cy="1325880"/>
          </a:xfrm>
          <a:prstGeom prst="roundRect">
            <a:avLst>
              <a:gd name="adj" fmla="val 6207"/>
            </a:avLst>
          </a:prstGeom>
          <a:solidFill>
            <a:srgbClr val="0E3A5F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22960" y="4681728"/>
            <a:ext cx="640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?</a:t>
            </a:r>
            <a:endParaRPr lang="en-US" sz="4000" dirty="0"/>
          </a:p>
        </p:txBody>
      </p:sp>
      <p:sp>
        <p:nvSpPr>
          <p:cNvPr id="9" name="Text 7"/>
          <p:cNvSpPr/>
          <p:nvPr/>
        </p:nvSpPr>
        <p:spPr>
          <a:xfrm>
            <a:off x="1618488" y="4553712"/>
            <a:ext cx="9686239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value is correct, and what is the mechanism?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CASE 2  ·  RESOLUTION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2: Pseudohyponatremia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554480"/>
            <a:ext cx="6413547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Pseudohyponatremia from lipemia — the indirect ISE on the main analyzer is falsely low.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Indirect ISE dilutes the sample and assumes normal plasma water; excess lipid displaces water and lowers the reported sodium.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blood gas analyzer uses a DIRECT ISE (no dilution) — unaffected, so 139 is correct.</a:t>
            </a:r>
            <a:endParaRPr lang="en-US" sz="1400" dirty="0"/>
          </a:p>
          <a:p>
            <a:pPr algn="l" marL="177800" indent="-1778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serum osmolality confirms the artifact.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422788" y="1554480"/>
            <a:ext cx="4201979" cy="3977640"/>
          </a:xfrm>
          <a:prstGeom prst="roundRect">
            <a:avLst>
              <a:gd name="adj" fmla="val 2069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660532" y="1755648"/>
            <a:ext cx="37447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660532" y="2121408"/>
            <a:ext cx="3726491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Discordant sodium between direct and indirect ISE with lipemia or paraproteinemia = pseudohyponatremia; trust the direct method.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Q1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patient has metabolic acidosis with HCO₃ 12 mmol/L and PaCO₂ 38 mmHg. Using Winter’s formula, what does this indicate?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Appropriate respiratory compensation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A concurrent respiratory acidosis (inadequate compensation)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A concurrent respiratory alkalosis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Metabolic alkalosis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No acid-base disorder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Concurrent respiratory acidosis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Winter’s predicts PaCO₂ = 1.5×12 + 8 ± 2 = 24–28 mmHg. The actual PaCO₂ of 38 is too high — inadequate compensation means a superimposed respiratory acidosis.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Q2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laboratory finding most specifically suggests a toxic alcohol ingestion early, before significant metabolism?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High anion gap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Elevated osmolal gap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Low bicarbonate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High lactate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Ketonuria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— Elevated osmolal gap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parent alcohol is osmotically active, raising the osmolal gap early; the anion gap rises later as it is metabolized to acids.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BOARD REVIEW  ·  Q3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Board-Style Review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normal anion gap (hyperchloremic) metabolic acidosis is most consistent with: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658368" y="2395728"/>
            <a:ext cx="619239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A. Diabetic ketoacidosis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 Lactic acidosis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b="1" dirty="0">
                <a:solidFill>
                  <a:srgbClr val="0D4A9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 Severe diarrhea or renal tubular acidosis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D. Methanol ingestion</a:t>
            </a:r>
            <a:endParaRPr lang="en-US" sz="135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 Salicylate toxicity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7201632" y="2395728"/>
            <a:ext cx="4423136" cy="3246120"/>
          </a:xfrm>
          <a:prstGeom prst="roundRect">
            <a:avLst>
              <a:gd name="adj" fmla="val 2535"/>
            </a:avLst>
          </a:prstGeom>
          <a:solidFill>
            <a:srgbClr val="E7EFFA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39376" y="2578608"/>
            <a:ext cx="39659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 </a:t>
            </a:r>
            <a:pPr indent="0" marL="0">
              <a:buNone/>
            </a:pPr>
            <a:r>
              <a:rPr lang="en-US" sz="1500" b="1" dirty="0">
                <a:solidFill>
                  <a:srgbClr val="1B2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— Diarrhea or RTA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39376" y="3127248"/>
            <a:ext cx="3947648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2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Bicarbonate loss (GI or renal) is replaced by chloride, producing a normal-gap acidosis. The others are high-gap acidoses.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2A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676656"/>
            <a:ext cx="10972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Take-Home Points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66928" y="1517904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5" name="Shape 3"/>
          <p:cNvSpPr/>
          <p:nvPr/>
        </p:nvSpPr>
        <p:spPr>
          <a:xfrm>
            <a:off x="749808" y="1755648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49808" y="1755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80160" y="1517904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Sodium disorders are water problems — interpret with osmolality, glucose, and volume status.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505456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9" name="Shape 7"/>
          <p:cNvSpPr/>
          <p:nvPr/>
        </p:nvSpPr>
        <p:spPr>
          <a:xfrm>
            <a:off x="749808" y="2743200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749808" y="27432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2505456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Pseudohyponatremia (lipemia/paraprotein) shows discordant indirect vs direct ISE; trust the direct method.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66928" y="3493008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3" name="Shape 11"/>
          <p:cNvSpPr/>
          <p:nvPr/>
        </p:nvSpPr>
        <p:spPr>
          <a:xfrm>
            <a:off x="749808" y="3730752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49808" y="37307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280160" y="3493008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acid-base in order: pH → primary → anion gap → compensation → delta-delta.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566928" y="4480560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17" name="Shape 15"/>
          <p:cNvSpPr/>
          <p:nvPr/>
        </p:nvSpPr>
        <p:spPr>
          <a:xfrm>
            <a:off x="749808" y="4718304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49808" y="47183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80160" y="4480560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elevated osmolal gap (with later anion gap) flags toxic alcohols; ethanol is the commonest cause.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566928" y="5468112"/>
            <a:ext cx="11057839" cy="841248"/>
          </a:xfrm>
          <a:prstGeom prst="roundRect">
            <a:avLst>
              <a:gd name="adj" fmla="val 7609"/>
            </a:avLst>
          </a:prstGeom>
          <a:solidFill>
            <a:srgbClr val="143651"/>
          </a:solidFill>
          <a:ln/>
        </p:spPr>
      </p:sp>
      <p:sp>
        <p:nvSpPr>
          <p:cNvPr id="21" name="Shape 19"/>
          <p:cNvSpPr/>
          <p:nvPr/>
        </p:nvSpPr>
        <p:spPr>
          <a:xfrm>
            <a:off x="749808" y="5705856"/>
            <a:ext cx="365760" cy="365760"/>
          </a:xfrm>
          <a:prstGeom prst="ellipse">
            <a:avLst/>
          </a:prstGeom>
          <a:solidFill>
            <a:srgbClr val="1565C0"/>
          </a:solidFill>
          <a:ln/>
          <a:effectLst>
            <a:outerShdw sx="100000" sy="100000" kx="0" ky="0" algn="bl" rotWithShape="0" blurRad="88900" dist="25400" dir="5400000">
              <a:srgbClr val="22303C">
                <a:alpha val="12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49808" y="57058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280160" y="5468112"/>
            <a:ext cx="10143439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E7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Deviation from predicted compensation reveals a mixed disorder.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E7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11002975" y="6473952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9184"/>
            <a:ext cx="10515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50" kern="0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CHEMISTRY   ·   REFERENCES &amp; FURTHER READING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713232"/>
            <a:ext cx="110642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66928" y="1481328"/>
            <a:ext cx="11057839" cy="4828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 Rifai N, et al. Tietz Textbook of Clinical Chemistry and Molecular Diagnostics, 6th ed. Elsevier, 2018.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 Berend K, et al. Physiological approach to assessment of acid-base disturbances. N Engl J Med. 2014;371:1434-1445.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 Seifter JL. Integration of acid-base and electrolyte disorders. N Engl J Med. 2014.</a:t>
            </a:r>
            <a:endParaRPr lang="en-US" sz="1150" dirty="0"/>
          </a:p>
          <a:p>
            <a:pPr algn="l" indent="0" marL="0">
              <a:spcAft>
                <a:spcPts val="800"/>
              </a:spcAft>
              <a:buNone/>
            </a:pPr>
            <a:r>
              <a:rPr lang="en-US" sz="1150" dirty="0">
                <a:solidFill>
                  <a:srgbClr val="3344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 CLSI C46: Blood Gas and pH Analysis and Related Measurements.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66928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Makassed General Hospital  ·  Department of Laboratory Medicine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9814255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9AA8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 Lecture Series</a:t>
            </a:r>
            <a:pPr algn="r" indent="0" marL="0">
              <a:buNone/>
            </a:pPr>
            <a:r>
              <a:rPr lang="en-US" sz="850" dirty="0">
                <a:solidFill>
                  <a:srgbClr val="DC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algn="r" indent="0" marL="0">
              <a:buNone/>
            </a:pPr>
            <a:r>
              <a:rPr lang="en-US" sz="850" b="1" dirty="0">
                <a:solidFill>
                  <a:srgbClr val="1565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Electrolytes, Osmolality &amp; Acid-Base</dc:title>
  <dc:subject>PptxGenJS Presentation</dc:subject>
  <dc:creator>Makassed General Hospital — Department of Laboratory Medicine</dc:creator>
  <cp:lastModifiedBy>Makassed General Hospital — Department of Laboratory Medicine</cp:lastModifiedBy>
  <cp:revision>1</cp:revision>
  <dcterms:created xsi:type="dcterms:W3CDTF">2026-06-28T05:35:14Z</dcterms:created>
  <dcterms:modified xsi:type="dcterms:W3CDTF">2026-06-28T05:35:14Z</dcterms:modified>
</cp:coreProperties>
</file>