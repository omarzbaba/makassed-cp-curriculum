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84" r:id="rId35"/>
    <p:sldId id="276" r:id="rId22"/>
    <p:sldId id="283" r:id="rId34"/>
    <p:sldId id="277" r:id="rId23"/>
    <p:sldId id="282" r:id="rId33"/>
    <p:sldId id="278" r:id="rId24"/>
    <p:sldId id="281" r:id="rId32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1188720"/>
            <a:ext cx="4480560" cy="4480560"/>
          </a:xfrm>
          <a:prstGeom prst="ellipse">
            <a:avLst/>
          </a:prstGeom>
          <a:solidFill>
            <a:srgbClr val="1565C0">
              <a:alpha val="14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058400" y="2743200"/>
            <a:ext cx="2468880" cy="2468880"/>
          </a:xfrm>
          <a:prstGeom prst="ellipse">
            <a:avLst/>
          </a:prstGeom>
          <a:solidFill>
            <a:srgbClr val="1565C0">
              <a:alpha val="22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0835640" y="3611880"/>
            <a:ext cx="1143000" cy="1143000"/>
          </a:xfrm>
          <a:prstGeom prst="ellipse">
            <a:avLst/>
          </a:prstGeom>
          <a:solidFill>
            <a:srgbClr val="1565C0">
              <a:alpha val="42000"/>
            </a:srgbClr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66928" y="1078992"/>
            <a:ext cx="5532120" cy="42062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66928" y="1078992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LECTURE SERIES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18105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·  LECTURE 2 OF 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Electrolytes, Osmolality &amp; Acid-Base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566928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BF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Tonicity, Gaps, Compensation, and Mixed Disorders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66928" y="5074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Tamima El-Jisr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Chairperson, Department of Laboratory Medicine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Hospital, Beirut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99855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D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Curriculum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FRAMING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66928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13232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anion gap is the fastest fork in a metabolic acidosis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4314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344314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Tonicity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90618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Sodium disorders are about water, not salt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1701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121701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268005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Compensation rules reveal disorders hiding behind a normal pH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41248" y="3611880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Electrolyte and acid-base interpretation is pattern recognition once you have a system. The laboratory adds the gaps — anion and osmolal — that turn a number panel into a diagnosis.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66928" y="502920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ask: is the pH change explained by one primary disorder with appropriate compensation, or is a second disorder hiding?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68096" y="1969008"/>
            <a:ext cx="420624" cy="420624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80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533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hypo- and hypernatremia using tonicity and volume status.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479896" y="1969008"/>
            <a:ext cx="420624" cy="420624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798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651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pseudo- and translocational hyponatremia.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68096" y="3639312"/>
            <a:ext cx="420624" cy="420624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680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533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 and interpret the anion gap, delta-delta, and osmolal gap.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87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479896" y="3639312"/>
            <a:ext cx="420624" cy="420624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4798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651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a stepwise acid-base method and compensation formulas.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68096" y="5309616"/>
            <a:ext cx="420624" cy="420624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680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mixed acid-base disorders.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787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6479896" y="5309616"/>
            <a:ext cx="420624" cy="420624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4798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651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renal tubular acidoses and high- vs normal-gap acidosis.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WHAT WE WILL COVER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49808" y="1682496"/>
            <a:ext cx="384048" cy="384048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9808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481328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Sodium &amp; tonicity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hypo- and hypernatremia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432304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49808" y="2633472"/>
            <a:ext cx="384048" cy="384048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49808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2432304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anion, delta-delta, osmolal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49808" y="3584448"/>
            <a:ext cx="384048" cy="384048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98448" y="3383280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Stepwise acid-base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primary + compensation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34256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49808" y="4535424"/>
            <a:ext cx="384048" cy="384048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98448" y="4334256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disorders &amp; RTA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traps and patterns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5285232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49808" y="5486400"/>
            <a:ext cx="384048" cy="384048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49808" y="5486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5285232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4A9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7EF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Sodium, Water &amp; Osmolality</a:t>
            </a:r>
            <a:endParaRPr lang="en-US" sz="3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SODIUM &amp; TONICITY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Hyponatremia — A Water Problem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BY TONICITY &amp; VOLUME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confirm true (hypotonic) hyponatremia with serum osmolality.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Hypovolemic: renal vs extrarenal losses (urine Na helps).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Euvolemic: SIADH, hypothyroidism, glucocorticoid deficiency.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Hypervolemic: heart failure, cirrhosis, nephrotic, renal failure.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PSEUDO- &amp; TRANSLOCATIONAL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Pseudohyponatremia: severe lipemia/paraproteinemia with INDIRECT ISE.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ISE (blood gas analyzer) is unaffected — a key cross-check.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Translocational: hyperglycemia draws water out (correct ~2.4 mmol/L Na per 5.5 mmol/L glucose).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sodium with glucose and osmolality.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SODIUM &amp; TONICITY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Hypernatremia and the Osmolal Gap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HYPERNATREMIA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a water deficit relative to sodium — impaired intake or excess free-water loss.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Diabetes insipidus (central vs nephrogenic) → dilute urine despite high serum osmolality.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Osmotic diuresis, GI and insensible losses.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Urine osmolality distinguishes renal from extrarenal loss.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OSMOLAL GAP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Osmolal gap = measured − calculated (2×Na + glucose/18 + BUN/2.8).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gap &amp;gt; ~10 suggests an unmeasured osmole.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Toxic alcohols (methanol, ethylene glycol) raise the gap early, anion gap later.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Ethanol is the commonest cause of an elevated osmolal gap.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4A9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7EF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Acid-Base Interpretation</a:t>
            </a:r>
            <a:endParaRPr lang="en-US" sz="3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ACID-BASE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Stepwise Acid-Base Method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66648" y="1481328"/>
            <a:ext cx="10058400" cy="4288536"/>
          </a:xfrm>
          <a:prstGeom prst="roundRect">
            <a:avLst>
              <a:gd name="adj" fmla="val 1919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" name="Image 0" descr="/tmp/cp_work2/art/chem_acidb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4664" y="1609344"/>
            <a:ext cx="9802368" cy="403250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843016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Work pH → primary disorder → anion gap → compensation, in order, every time.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ACID-BASE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Disorders &amp; Expected Compensation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11057839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743200"/>
                <a:gridCol w="5202936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Disorder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change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compensation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5C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Metabolic acidosis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 HCO₃⁻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Winter: PaCO₂ = 1.5×HCO₃ + 8 ± 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Metabolic alkalosis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 HCO₃⁻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PaCO₂ ↑ ~0.7 mmHg per 1 mmol/L HCO₃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Respiratory acidosis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 PaCO₂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HCO₃ ↑ ~1 (acute) / ~3.5 (chronic) per 10 PaCO₂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Respiratory alkalosis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 PaCO₂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HCO₃ ↓ ~2 (acute) / ~4–5 (chronic) per 10 PaCO₂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6016752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measured compensation deviates from predicted, a second (mixed) disorder is present.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ACID-BASE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vs Normal Gap &amp; the Delta-Delta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ANION GAP (GOLD MARK / MUDPILES)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Glycols, Oxoproline, L-lactate, D-lactate, Methanol, Aspirin, Renal failure, Ketoacidosis.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Lactate and ketoacids are the everyday causes.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Toxic alcohols add an osmolal gap.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Salicylate → mixed high-gap acidosis + respiratory alkalosis.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NORMAL-GAP &amp; DELTA-DELTA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(hyperchloremic) gap: GI bicarbonate loss (diarrhea) or RTA.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Delta-delta compares the rise in anion gap to the fall in bicarbonate.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Δgap ≪ ΔHCO₃ → added normal-gap acidosis; Δgap ≫ ΔHCO₃ → added metabolic alkalosis.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to uncover mixed disorders.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RENAL TUBULAR ACIDOSIS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Normal-Gap Acidosis: The RTAs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11057839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572000"/>
                <a:gridCol w="2286000"/>
                <a:gridCol w="2368296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Serum K⁺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Urine pH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5C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 1 (distal)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Impaired distal H⁺ secretion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&amp;gt; 5.5 (inappropriately high)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 2 (proximal)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Impaired HCO₃ reabsorption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 (&amp;lt; 5.5 once depleted)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 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Aldosterone deficiency/resistance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&amp;lt; 5.5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6016752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Serum potassium and urine pH separate the RTAs; type 4 (hyperkalemic) is the most common in adults (e.g., diabetic nephropathy).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4A9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7EF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3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CASE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intoxicated patient has a high anion gap metabolic acidosis and a markedly elevated osmolal gap. Ethanol is undetectable. Calcium oxalate crystals are seen in the urine.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Diagnosis, and why are both gaps elevated?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CASE 1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Ethylene Glycol Toxicity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Ethylene glycol — a toxic alcohol.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alcohol raises the OSMOLAL gap early; metabolism to acids raises the ANION gap later.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Calcium oxalate crystalluria supports it.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the alcohol is metabolized, the osmolal gap falls and the anion gap rises.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combined osmolal + anion gap acidosis is toxic alcohol until proven otherwise — the two gaps evolve in opposite directions.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CASE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 with severe hypertriglyceridemia has sodium 122 by the main chemistry analyzer but 139 on the blood gas analyzer; serum osmolality is normal.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value is correct, and what is the mechanism?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CASE 2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Pseudohyponatremia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Pseudohyponatremia from lipemia — the indirect ISE on the main analyzer is falsely low.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Indirect ISE dilutes the sample and assumes normal plasma water; excess lipid displaces water.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blood gas analyzer uses a DIRECT ISE (no dilution) — so 139 is correct.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serum osmolality confirms the artifact.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Discordant sodium between direct and indirect ISE with lipemia/paraproteinemia = pseudohyponatremia; trust the direct method.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CASE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 with chronic diarrhea has a normal anion gap metabolic acidosis with hypokalemia. Urine pH is appropriately low.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acid-base disturbance and the most likely cause?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CASE 3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3: Normal-Gap Acidosis from GI Loss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Hyperchloremic (normal-gap) metabolic acidosis from GI bicarbonate loss (diarrhea).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kidney responds appropriately (low urine pH), arguing against distal RTA.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Hypokalemia accompanies GI losses.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 with distal (type 1) RTA, where urine pH stays inappropriately high.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Normal-gap acidosis: diarrhea vs RTA. Urine pH and the urine anion gap separate GI loss from renal causes.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Metabolic acidosis with HCO₃ 12 and PaCO₂ 38 (Winter’s predicts 24–28). This indicates: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Appropriate compensation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Concurrent respiratory acidosis (inadequate compensation)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Concurrent respiratory alkalosis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Metabolic alkalosis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No disorder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finding most specifically suggests a toxic alcohol ingestion EARLY?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High anion gap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Elevated osmolal gap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Low bicarbonate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High lactate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Ketonuria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normal anion gap metabolic acidosis with hyperkalemia and urine pH &amp;lt; 5.5 suggests: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Type 1 (distal) RTA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Type 2 (proximal) RTA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Type 4 RTA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Diabetic ketoacidosis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Lactic acidosis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BOARD REVIEW  ·  Q4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patient’s measured serum sodium is low but corrected sodium (for glucose of 44 mmol/L) is normal. This is: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Pseudohyponatremia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Translocational (hyperglycemic) hyponatremia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SIADH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Diabetes insipidus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True hypotonic hyponatremia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Take-Home 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49808" y="1755648"/>
            <a:ext cx="365760" cy="365760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980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517904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Sodium disorders are water problems — interpret with osmolality, glucose, and volume status.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505456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49808" y="2743200"/>
            <a:ext cx="365760" cy="365760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49808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505456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Pseudohyponatremia (lipemia/paraprotein) shows discordant indirect vs direct ISE; trust the direct method.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493008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49808" y="3730752"/>
            <a:ext cx="365760" cy="365760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493008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acid-base in order: pH → primary → anion gap → compensation → delta-delta.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80560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49808" y="4718304"/>
            <a:ext cx="365760" cy="365760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" y="4718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4480560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elevated osmolal gap (then anion gap) flags toxic alcohols; ethanol is the commonest cause.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5468112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49808" y="5705856"/>
            <a:ext cx="365760" cy="365760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49808" y="5705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5468112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Normal-gap acidosis: separate diarrhea from RTA by urine pH/anion gap; classify RTAs by potassium and urine pH.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002975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REFERENCES &amp; FURTHER READING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828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Rifai N, et al. Tietz Textbook of Clinical Chemistry, 6th ed. Elsevier, 2018.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Berend K, et al. Physiological approach to acid-base disturbances. N Engl J Med. 2014;371:1434-1445.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Seifter JL. Integration of acid-base and electrolyte disorders. N Engl J Med. 2014.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CLSI C46: Blood Gas and pH Analysis and Related Measurements.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BOARD REVIEW  ·  Q4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patient’s measured serum sodium is low but corrected sodium (for glucose of 44 mmol/L) is normal. This is: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Pseudohyponatremia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Translocational (hyperglycemic) hyponatremia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SIADH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Diabetes insipidus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True hypotonic hyponatremia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Translocational hyponatremia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Hyperglycemia draws water into the vascular space, diluting sodium; correcting for glucose normalizes it. Osmolality is high/normal, not low.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normal anion gap metabolic acidosis with hyperkalemia and urine pH &amp;lt; 5.5 suggests: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Type 1 (distal) RTA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Type 2 (proximal) RTA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Type 4 RTA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Diabetic ketoacidosis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Lactic acidosis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Type 4 RTA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4 RTA (aldosterone deficiency/resistance) causes hyperkalemic normal-gap acidosis with an acid urine; common in diabetic nephropathy.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finding most specifically suggests a toxic alcohol ingestion EARLY?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High anion gap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Elevated osmolal gap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Low bicarbonate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High lactate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Ketonuria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Elevated osmolal gap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parent alcohol is osmotically active, raising the osmolal gap early; the anion gap rises later as it is metabolized.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Metabolic acidosis with HCO₃ 12 and PaCO₂ 38 (Winter’s predicts 24–28). This indicates: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Appropriate compensation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Concurrent respiratory acidosis (inadequate compensation)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Concurrent respiratory alkalosis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Metabolic alkalosis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No disorder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Concurrent respiratory acidosis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PaCO₂ (38) exceeds predicted (24–28) — inadequate respiratory compensation means a superimposed respiratory acidosis.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Electrolytes, Osmolality &amp; Acid-Base</dc:title>
  <dc:subject>PptxGenJS Presentation</dc:subject>
  <dc:creator>Makassed General Hospital — Department of Laboratory Medicine</dc:creator>
  <cp:lastModifiedBy>Makassed General Hospital — Department of Laboratory Medicine</cp:lastModifiedBy>
  <cp:revision>1</cp:revision>
  <dcterms:created xsi:type="dcterms:W3CDTF">2026-06-28T06:47:23Z</dcterms:created>
  <dcterms:modified xsi:type="dcterms:W3CDTF">2026-06-28T06:47:23Z</dcterms:modified>
</cp:coreProperties>
</file>