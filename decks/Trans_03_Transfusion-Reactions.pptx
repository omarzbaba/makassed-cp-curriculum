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AD1457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AD145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AD1457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AD145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Reactions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Recognition, Workup, and Management on Call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acute reactions declare within 6 hours of starting a transfusion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hemolytic reactions are almost always preventable — driven by patient / sample misidentification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action for every suspected acute reaction, before any diagnosis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call, your job is not to name the reaction first — it is to STOP, stabilize, and rapidly separate the dangerous reactions (hemolytic, septic, anaphylactic, TACO, TRALI) from the benign ones (isolated fever, isolated urticaria). This lecture builds that reflex.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reaction is a clinical AND a laboratory event — the blood bank workup runs in parallel with bedside resuscitation.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suspected reactions feeds haemovigilance and prevents the next event.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LECTURE 3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universal first response to any suspected acute transfusion reaction.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reactions by timing (acute vs delayed) and mechanism (immune vs non-immune).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and manage acute hemolytic, febrile, allergic/anaphylactic, and septic reactions.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TACO from TRALI using clinical features and laboratory markers.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delayed reactions: DHTR/DSTR, TA-GVHD, post-transfusion purpura, iron overload.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correct product modification (leukoreduction, irradiation, washing) to prevent recurrence.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&amp; first response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stop–stabilize–verify–notify; the blood bank workup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reactions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hemolytic, febrile, allergic/anaphylactic, septic, TACO, TRALI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reactions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DHTR/DSTR, TA-GVHD, PTP, iron overload, alloimmunization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&amp; pitfalls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master comparison table and prevention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three worked cases and board-style questions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&amp; First Response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DO THIS EVERY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First Response to a Suspected Acute Reaction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AD1457"/>
          </a:solidFill>
          <a:ln w="15875">
            <a:solidFill>
              <a:srgbClr val="AD1457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783080"/>
            <a:ext cx="2404872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STOP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transfusion immediately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099816" y="23088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14674" y="178308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69538" y="1783080"/>
            <a:ext cx="2404872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Keep the line open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0.9% saline; ABCs &amp; vitals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7562" y="23088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262421" y="178308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7285" y="1783080"/>
            <a:ext cx="2404872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Bedside clerical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ID band vs unit &amp; paperwork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95309" y="23088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10167" y="178308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65031" y="1783080"/>
            <a:ext cx="2404872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Notify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bank + treating team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95848" y="2852928"/>
            <a:ext cx="0" cy="27432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6928" y="314553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0E3A5F"/>
          </a:solidFill>
          <a:ln w="15875">
            <a:solidFill>
              <a:srgbClr val="0E3A5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" y="3145536"/>
            <a:ext cx="10948111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Return the unit, administration set, and post-transfusion samples (clotted + EDTA) to the blood bank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3931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TRIAGE BY SEVERITY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224528"/>
            <a:ext cx="5346040" cy="1298448"/>
          </a:xfrm>
          <a:prstGeom prst="roundRect">
            <a:avLst>
              <a:gd name="adj" fmla="val 6338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4672" y="4370832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REACTION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4672" y="4681728"/>
            <a:ext cx="487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urticaria, OR isolated mild fever with an otherwise stable patient → evaluate; transfusion may be cautiously resumed per protocol once a dangerous reaction is excluded.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8728" y="4224528"/>
            <a:ext cx="5346040" cy="1298448"/>
          </a:xfrm>
          <a:prstGeom prst="roundRect">
            <a:avLst>
              <a:gd name="adj" fmla="val 6338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6472" y="4370832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— DO NOT RESTART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16472" y="4681728"/>
            <a:ext cx="487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with hypotension or rigors, dyspnea / hypoxia, dark urine, back / flank / IV-site pain, bleeding or oozing (DIC), or a sense of impending doom → full clinical + laboratory workup.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CLASSIFICATION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Framework: Timing × Mechanism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2258568"/>
          </a:xfrm>
          <a:prstGeom prst="roundRect">
            <a:avLst>
              <a:gd name="adj" fmla="val 364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27632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 ·  ACUTE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1993392"/>
            <a:ext cx="48888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hemolytic (AHTR)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Febrile non-hemolytic (FNHTR)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Allergic / anaphylactic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TRALI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481328"/>
            <a:ext cx="5346040" cy="2258568"/>
          </a:xfrm>
          <a:prstGeom prst="roundRect">
            <a:avLst>
              <a:gd name="adj" fmla="val 364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27632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 ·  DELAYED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16472" y="1993392"/>
            <a:ext cx="48888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hemolytic / serologic (DHTR / DSTR)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TA-GVHD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Post-transfusion purpura (PTP)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 &amp; HLA alloimmunization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050792"/>
            <a:ext cx="5346040" cy="2258568"/>
          </a:xfrm>
          <a:prstGeom prst="roundRect">
            <a:avLst>
              <a:gd name="adj" fmla="val 364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197096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NON-IMMUNE  ·  ACUTE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4562856"/>
            <a:ext cx="48888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 (circulatory overload)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(bacterial contamination)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Non-immune hemolysis (mechanical / thermal)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toxicity, air embolism, hypothermia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4050792"/>
            <a:ext cx="5346040" cy="2258568"/>
          </a:xfrm>
          <a:prstGeom prst="roundRect">
            <a:avLst>
              <a:gd name="adj" fmla="val 364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16472" y="4197096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NON-IMMUNE  ·  DELAYED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16472" y="4562856"/>
            <a:ext cx="48888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Transfusion-transmitted infection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(hemosiderin) overload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LABORATORY 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Blood Bank Workup of an Acute Reaction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442106" cy="1005840"/>
          </a:xfrm>
          <a:prstGeom prst="roundRect">
            <a:avLst>
              <a:gd name="adj" fmla="val 6364"/>
            </a:avLst>
          </a:prstGeom>
          <a:solidFill>
            <a:srgbClr val="F8E7EF"/>
          </a:solidFill>
          <a:ln w="15875">
            <a:solidFill>
              <a:srgbClr val="F8E7E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627632"/>
            <a:ext cx="333237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Clerical / identity recheck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 records, patient &amp; unit)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45610" y="2130552"/>
            <a:ext cx="292608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4794" y="1627632"/>
            <a:ext cx="3442106" cy="1005840"/>
          </a:xfrm>
          <a:prstGeom prst="roundRect">
            <a:avLst>
              <a:gd name="adj" fmla="val 6364"/>
            </a:avLst>
          </a:prstGeom>
          <a:solidFill>
            <a:srgbClr val="F8E7EF"/>
          </a:solidFill>
          <a:ln w="15875">
            <a:solidFill>
              <a:srgbClr val="F8E7E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29658" y="1627632"/>
            <a:ext cx="333237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post-transfusion plasma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visible hemolysis (pink/red)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53477" y="2130552"/>
            <a:ext cx="292608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82661" y="1627632"/>
            <a:ext cx="3442106" cy="1005840"/>
          </a:xfrm>
          <a:prstGeom prst="roundRect">
            <a:avLst>
              <a:gd name="adj" fmla="val 6364"/>
            </a:avLst>
          </a:prstGeom>
          <a:solidFill>
            <a:srgbClr val="F8E7EF"/>
          </a:solidFill>
          <a:ln w="15875">
            <a:solidFill>
              <a:srgbClr val="F8E7E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37525" y="1627632"/>
            <a:ext cx="333237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antiglobulin test (DAT)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post-transfusion sample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8529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HEMOLYSIS IS SUSPECTED OR THE DAT IS POSITIVE, EXTEND THE WORKUP: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200400"/>
            <a:ext cx="53460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" y="3346704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HEMOLYSIS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" y="3657600"/>
            <a:ext cx="488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ABO/Rh on pre- and post-transfusion samples + the unit</a:t>
            </a:r>
            <a:endParaRPr lang="en-US" sz="12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antibody screen / crossmatch (pre &amp; post)</a:t>
            </a:r>
            <a:endParaRPr lang="en-US" sz="12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labs: ↑ LDH, ↑ indirect bilirubin, ↓ haptoglobin</a:t>
            </a:r>
            <a:endParaRPr lang="en-US" sz="12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free hemoglobin ↑; hemoglobinuria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8728" y="3200400"/>
            <a:ext cx="53460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6472" y="3346704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SEVERITY &amp; COMPLICATIONS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6472" y="3657600"/>
            <a:ext cx="488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screen: platelets, PT/aPTT, fibrinogen, D-dimer</a:t>
            </a:r>
            <a:endParaRPr lang="en-US" sz="12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 &amp; urine output (pigment nephropathy)</a:t>
            </a:r>
            <a:endParaRPr lang="en-US" sz="12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septic suspected: Gram stain &amp; culture the unit + patient blood cultures</a:t>
            </a:r>
            <a:endParaRPr lang="en-US" sz="12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to the transfusion service / haemovigilance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Reactions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Hemolytic Transfusion Reaction (AHTR)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CAUSE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Preformed IgM (usually anti-A / anti-B) binds donor red cells → complement activation → intravascular hemolysis.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often caused by ABO incompatibility from patient or sample MISIDENTIFICATION — a clerical / bedside error, not a lab failure.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and cytokine release drive hypotension, DIC, and acute kidney injury.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tracks with volume infused — stopping early saves lives.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/ chills, hypotension, flank or back pain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or burning along the infusion vein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urine (hemoglobinuria); oliguria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Oozing / bleeding from DIC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Anxiety, 'sense of impending doom'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anesthetized patient: hypotension, hemoglobinuria, and diffuse oozing may be the only clues.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AHTR: Management 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STABILIZE &amp; PROTECT THE KIDNEYS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transfusion; keep line open with 0.9% saline.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IV crystalloid to maintain urine output ≥ 1–2 mL/kg/h.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blood pressure; transfer to a monitored setting.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DIC and electrolyte derangements as they arise.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give further units until compatibility is re-established.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&amp; REPORT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Clerical recheck + visual plasma inspection + DAT.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ABO on pre/post samples and the unit; repeat crossmatch.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labs (↑LDH, ↑indirect bilirubin, ↓haptoglobin, +plasma free Hb).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transfusion service immediately and file a reaction report.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Febrile Non-Hemolytic Reaction (FNHTR)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&amp; MECHANISM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1°C temperature rise (and ≥ 38°C) with chills/rigors, without hemolysis or another cause.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anti-leukocyte antibodies reacting with donor WBCs, and/or accumulated cytokines in stored cellular products.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with platelets; benign but a diagnosis of EXCLUSION.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&amp; PREVENTION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stop and exclude AHTR and septic reaction first — fever is their early sign too.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Antipyretics (acetaminophen); avoid routine pre-medication without indication.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recurrence with leukoreduced components.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+ hypotension or fever + shock is NOT FNHTR until proven otherwise.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Allergic &amp; Anaphylactic Reactions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/ MODERATE ALLERGIC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Urticaria, pruritus, flushing — no systemic compromise.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 response to soluble donor plasma proteins.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reaction where transfusion may resume: pause, give antihistamine, restart slowly if symptoms resolve.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cases → washed components.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ANAPHYLACTIC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hypotension, bronchospasm, stridor/angioedema, shock — minutes into transfusion.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(tested) cause: IgA-deficient recipient with anti-IgA antibodies.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STOP; epinephrine; airway and circulatory support.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support: washed cellular products and IgA-deficient / plasma-reduced units.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(Bacterial Contamination) Reaction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PLATELETS?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 are stored at room temperature (20–24°C) — the highest-risk component for bacterial growth.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flora (e.g., staphylococci) and, classically, Yersinia / other Gram-negatives in refrigerated red cells.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Endotoxin can cause fulminant shock.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&amp; RESPONSE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fever, rigors, hypotension/shock often DURING or soon after transfusion.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Stop; resuscitate; start broad-spectrum antibiotics.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 &amp; culture the residual unit AND draw patient blood cultures.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Mitigated by pathogen reduction and bacterial detection / culture programs.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Transfusion-Associated Circulatory Overload (TACO)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(2018 ISBT)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Cardiogenic (hydrostatic) pulmonary edema from volume the patient cannot accommodate, within 6–12 h.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distress is the cardinal feature; evidence of fluid overload supports it.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hypertension, raised JVP, positive fluid balance, ↑ BNP / NT-proBNP.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extremes of age, cardiac/renal impairment, rapid or large-volume transfusion.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&amp; PREVENT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slow the transfusion; sit the patient upright; oxygen.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Diuresis — clinical improvement is expected and supports the diagnosis.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Prevent: transfuse slowly, one unit at a time, with pre-transfusion volume assessment and prophylactic diuretic in at-risk patients.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leading reported cause of transfusion-related mortality.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Transfusion-Related Acute Lung Injury (TRALI)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(2019 CONSENSUS)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Non-cardiogenic (increased-permeability) pulmonary edema with hypoxemia within 6 h of transfusion.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I: no ARDS risk factor. Type II: ARDS risk factor present or pre-existing mild ARDS.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Two-hit model: a primed recipient + donor anti-leukocyte (anti-HLA / anti-HNA) antibodies or biologic response modifiers.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 'possible TRALI' was retired in the 2019 redefinition.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&amp; PREVENT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Supportive respiratory care — oxygen, lung-protective ventilation as needed.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Diuretics do NOT help (this is not volume overload); distinguish from TACO.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resolves within 24–96 h with support.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Prevented at the supply level: predominantly-male plasma and HLA/HNA-screened donors.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ACUTE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 vs TRALI — The High-Yield Discriminators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27348"/>
                <a:gridCol w="392734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Hydrostatic / volume overload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Antibody-mediated permeability injury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During – within 6–12 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6 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 pressure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Hypertension (typical)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Hypotension (typical)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absent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present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Jugular venous pressure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BNP / NT-proBNP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Fluid balance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to diuretics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benefit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First-line management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Diuresis, upright, O₂, slow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support, O₂ ± ventilation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present as acute dyspnea with bilateral infiltrates — the table above is how you separate them at the bedside and in the lab.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Reactions</a:t>
            </a:r>
            <a:endParaRPr lang="en-US" sz="3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DELAYED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Hemolytic &amp; Serologic Reactions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(ANAMNESTIC)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previously sensitized patient (prior transfusion / pregnancy) mounts an anamnestic antibody response to a re-exposed antigen.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was below detection at crossmatch, then rises over days.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culprits: Kidd (anti-Jkᵃ, notorious for evanescence), Rh, Duffy, Kell.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Extravascular hemolysis (IgG → splenic clearance).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(3–14 DAYS LATER)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fall in hemoglobin days after transfusion.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indirect bilirubin / LDH, ↓ haptoglobin; new positive antibody screen and DAT.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DHTR = clinical hemolysis; DSTR = serologic finding without overt hemolysis.</a:t>
            </a:r>
            <a:endParaRPr lang="en-US" sz="13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managed supportively; identify the antibody and give antigen-negative units going forward.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DELAYED REACTIONS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Delayed Complications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0"/>
                <a:gridCol w="3831336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High-yield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TA-GVHD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 T-lymphocytes engraft and attack recipient; fever, rash, diarrhea, hepatitis, pancytopenia 1–6 wk later; near-uniformly fatal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 with irradiation of cellular components for at-risk (immunocompromised, related donors, HLA-matched units)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Post-transfusion purpura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 thrombocytopenia ~5–10 days after transfusion; usually HPA-1a–negative, multiparous women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with IVIG; supportive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 overload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Hemosiderin deposition after chronic transfusion (~each RBC unit ≈ 200–250 mg iron)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 ferritin; iron chelation in chronically transfused patients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Alloimmunization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RBC / HLA antibodies after exposure; future crossmatch difficulty, platelet refractoriness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Leukoreduction lowers HLA alloimmunization and CMV risk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&amp; Pitfalls</a:t>
            </a:r>
            <a:endParaRPr lang="en-US" sz="3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SYNTHESIS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Reactions at a Glance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417320"/>
                <a:gridCol w="2971800"/>
                <a:gridCol w="2514600"/>
                <a:gridCol w="22768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 hemolytic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Minutes–hrs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Fever, hypotension, flank pain, dark urine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ABO/IgM, complement (clerical error)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Stop; hydrate; DAT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Febrile non-hemolytic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During–4 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1°C fever, chills; no hemolysis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Anti-WBC Ab / cytokines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AHTR/sepsis; antipyretic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Allergic (mild)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Urticaria, pruritus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IgE to plasma proteins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Antihistamine; may resume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Anaphylactic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Seconds–min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Hypotension, bronchospasm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Anti-IgA (IgA deficiency)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Epinephrine; washed units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Septic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During–2 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fever, rigors, shock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Bacteria (esp. platelets, RT)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Stop; culture unit+patient; abx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TACO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6–12 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Dyspnea, hypertension, ↑BNP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Circulatory overload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Diurese; upright; O₂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TRALI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6 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Hypoxemia, bilateral infiltrates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Anti-leukocyte Ab / two-hit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support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SYNTHESIS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Pitfalls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BE FOOLED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is the shared early sign of FNHTR, AHTR, and sepsis — treat fever during transfusion as dangerous until excluded.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Hypotension reactions: AHTR, septic, anaphylactic, and (rarely) bradykinin-mediated — differentiate by associated signs.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anesthetized or obtunded patient may show only hypotension, hemoglobinuria, and oozing.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Anti-Jkᵃ is the classic cause of a DHTR — it disappears between episodes and is missed at crossmatch.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THAT HELP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Dyspnea + hypertension + ↑BNP, improves with diuretics → TACO.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Dyspnea + hypotension + normal BNP, no diuretic response → TRALI.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to platelets with high fever / shock → think septic first.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Anaphylaxis in a young, otherwise healthy patient → check IgA deficiency / anti-IgA.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PREVENTION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the Modification to the Risk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modification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Prevents / indicated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Leukoreduction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FNHTR, HLA alloimmunization, CMV-risk reduction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Irradiation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TA-GVHD in at-risk recipients (immunocompromised, related-donor or HLA-matched units)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Washing (plasma removal)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severe allergic / anaphylactic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IgA-deficient / plasma-reduced units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IgA-deficient recipients with anti-IgA antibodies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rate, single units, ± diuretic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TACO in volume-sensitive patients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Pathogen reduction / bacterial detection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Septic (bacterial contamination), especially platelets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Male-predominant plasma; HLA/HNA screening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TRALI risk mitigation at the donor 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64-year-old man receiving his first unit of red cells for GI bleeding develops, 15 minutes in, a temperature of 39.1°C, rigors, blood pressure 84/50, and burning pain at the IV site. The nurse notes his urine in the catheter bag has turned dark red.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immediate response, and what single laboratory finding would most rapidly support your leading diagnosis?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Acute Hemolytic Transfusion Reaction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transfusion immediately; keep the line open with saline; ABCs and vitals.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a bedside clerical check (patient ID band vs unit) — ABO incompatibility from misidentification is the likeliest cause.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IV crystalloid to maintain urine output ≥ 1–2 mL/kg/h; protect the kidneys.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unit, tubing, and post-transfusion samples (clotted + EDTA) to the blood bank.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transfusion service and file a reaction report.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supportive findings: visibly hemolyzed (pink) post-transfusion plasma and a positive DAT. Confirm with repeat ABO on pre/post samples plus hemolysis labs (↑LDH, ↑indirect bilirubin, ↓haptoglobin, hemoglobinuria).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72-year-old woman with chronic kidney disease becomes acutely dyspneic 3 hours into her second unit of red cells. She is hypertensive at 178/96, has bilateral crackles and a raised JVP, and oxygen saturation is 86%. A chest film shows bilateral infiltrates; NT-proBNP is markedly elevated.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 or TRALI? Name the two features here that most strongly favor your answer, and the first therapeutic step.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TACO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transfusion-associated circulatory overload (TACO).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discriminators here: hypertension with raised JVP, and a markedly elevated NT-proBNP — both point to hydrostatic (cardiogenic) edema.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context fits: elderly, renal impairment, second unit.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step: stop/slow the transfusion, sit the patient upright, give oxygen, and diurese.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course: clinical improvement after diuresis supports the diagnosis.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instead BP were low, JVP normal, BNP normal, and there were no response to diuretics, you would be dealing with TRALI — manage with respiratory support, not diuretics.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24-year-old woman with no significant history receives plasma during a procedure. Within two minutes she develops stridor, diffuse wheeze, facial angioedema, and her blood pressure falls to 70/40. There is no fever. She has needed no transfusions before.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diagnosis, the immediate drug of choice, and the underlying deficiency you must evaluate for future transfusions?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Anaphylactic Reaction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Anaphylactic transfusion reaction — rapid airway and circulatory compromise without fever.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transfusion; give intramuscular EPINEPHRINE; support airway and circulation.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samples to the blood bank and report the reaction.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for IgA deficiency with anti-IgA antibodies — the classic cause in a young, previously unexposed patient.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future support: washed cellular components and IgA-deficient (or plasma-reduced) products. Mild urticaria-only reactions are managed with antihistamines and may resume — anaphylaxis may not.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develops fever, hypotension, and hemoglobinuria minutes after starting a red cell transfusion. Which single underlying error most commonly explains this reaction?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weak / evanescent Kidd antibody missed at crossmatch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Bacterial contamination of the unit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Patient or sample misidentification causing ABO-incompatible transfusion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Donor anti-HLA antibodies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Recipient IgA deficiency with anti-IgA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Patient/sample misidentification (ABO incompatibility)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acute hemolytic transfusion reaction. The overwhelming majority result from clerical / identification errors leading to ABO-incompatible transfusion. (A) causes delayed hemolysis; (B) is septic; (D) is TRALI; (E) is anaphylaxis.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hours after transfusion, a patient is dyspneic and hypoxemic with bilateral infiltrates. Blood pressure is 180/95, JVP is raised, and BNP is elevated. Which intervention is most appropriate?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Intramuscular epinephrine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Diuresis, upright positioning, and oxygen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Broad-spectrum antibiotics and culture of the unit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Irradiated components for future transfusion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Lung-protective ventilation without diuretics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Diuresis, upright positioning, and oxygen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Hypertension, raised JVP, and elevated BNP indicate TACO (hydrostatic overload), which responds to diuresis. (E) describes TRALI management; (C) septic; (A) anaphylaxis; (D) prevents TA-GVHD.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 modification is specifically required to prevent transfusion-associated graft-versus-host disease (TA-GVHD) in an at-risk recipient?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Leukoreduction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Washing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Irradiation of cellular components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Use of IgA-deficient units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Pathogen reduction for bacterial risk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Irradiation of cellular components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TA-GVHD is caused by viable donor T-lymphocytes; irradiation inactivates them and is the required preventive step. Leukoreduction reduces FNHTR, HLA alloimmunization, and CMV risk but does NOT reliably prevent TA-GVHD.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suspected acute reaction: STOP, keep the line open with saline, ABCs, bedside clerical check, notify the blood bank.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during transfusion is AHTR or sepsis until excluded — never assume FNHTR first.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AHTR is an ABO / misidentification problem; protect the kidneys with aggressive hydration.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 = hypertension, ↑BNP, diuretic-responsive. TRALI = hypotension, normal BNP, no diuretic benefit.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fix to the risk: leukoreduction (FNHTR/CMV/HLA), irradiation (TA-GVHD), washing (allergic/anaphylactic).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Cohn CS, Delaney M, Johnson ST, Katz LM (eds). AABB Technical Manual, 20th ed. Bethesda, MD: AABB Press, 2020.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Vlaar APJ, Toy P, Fung M, et al. A consensus redefinition of transfusion-related acute lung injury (TRALI). Transfusion. 2019;59(7):2465–2476.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Wiersum-Osselton JC, Whitaker B, Grey S, et al. Revised international surveillance case definition of transfusion-associated circulatory overload (TACO). Lancet Haematol. 2019;6(7):e350–e358.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U.S. Food &amp; Drug Administration. Fatalities Reported to FDA Following Blood Collection and Transfusion: Annual Summary.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Harmening DM. Modern Blood Banking &amp; Transfusion Practices, 7th ed. Philadelphia: F.A. Davis,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Fung MK, Eder AF, Spitalnik SL, Westhoff CM (eds). AABB Technical Manual / Standards for Blood Banks and Transfusion Services (current edition).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Transfusion Reactions — CP Residency Lecture Series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2026-06-28T04:15:06Z</dcterms:created>
  <dcterms:modified xsi:type="dcterms:W3CDTF">2026-06-28T04:15:06Z</dcterms:modified>
</cp:coreProperties>
</file>