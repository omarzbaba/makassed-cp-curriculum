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1188720"/>
            <a:ext cx="4480560" cy="4480560"/>
          </a:xfrm>
          <a:prstGeom prst="ellipse">
            <a:avLst/>
          </a:prstGeom>
          <a:solidFill>
            <a:srgbClr val="00838F">
              <a:alpha val="14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743200"/>
            <a:ext cx="2468880" cy="2468880"/>
          </a:xfrm>
          <a:prstGeom prst="ellipse">
            <a:avLst/>
          </a:prstGeom>
          <a:solidFill>
            <a:srgbClr val="00838F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835640" y="3611880"/>
            <a:ext cx="1143000" cy="1143000"/>
          </a:xfrm>
          <a:prstGeom prst="ellipse">
            <a:avLst/>
          </a:prstGeom>
          <a:solidFill>
            <a:srgbClr val="00838F">
              <a:alpha val="4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" y="1078992"/>
            <a:ext cx="5532120" cy="420624"/>
          </a:xfrm>
          <a:prstGeom prst="roundRect">
            <a:avLst>
              <a:gd name="adj" fmla="val 50000"/>
            </a:avLst>
          </a:prstGeom>
          <a:solidFill>
            <a:srgbClr val="00838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078992"/>
            <a:ext cx="5532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LECTURE SERIES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81051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·  LECTURE 2 OF 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66928" y="2286000"/>
            <a:ext cx="8595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Interpretation &amp; Reporting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566928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BFD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Tiering, Pathogenicity, Nomenclature, and Actionable Reports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66928" y="50749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Tamima El-Jisr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Chairperson, Department of Laboratory Medicine</a:t>
            </a:r>
            <a:endParaRPr lang="en-US" sz="1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DB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Hospital, Beirut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899855" y="5989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DA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Pathology Residency Curriculum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FRAMING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13232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turn raw variants into clinically meaningful categories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4314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344314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490618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uncertain middle ground — handled, not acted upon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21701" y="1554480"/>
            <a:ext cx="3503066" cy="1554480"/>
          </a:xfrm>
          <a:prstGeom prst="roundRect">
            <a:avLst>
              <a:gd name="adj" fmla="val 5294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21701" y="1700784"/>
            <a:ext cx="350306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HGVS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8268005" y="2468880"/>
            <a:ext cx="32104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nomenclature prevents dangerous ambiguity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66928" y="342900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3611880"/>
            <a:ext cx="1050919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sequencing result is only as good as its interpretation and report. Standardized frameworks, correct nomenclature, and the germline-vs-somatic distinction make a report actionable and safe.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66928" y="5029200"/>
            <a:ext cx="11057839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— classification, nomenclature, and clear actionability — is the deliverable; the raw variant list is not.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·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969008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80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533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variant tiering and pathogenicity frameworks.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78728" y="1481328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9896" y="1969008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9896" y="19690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65112" y="1481328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standard HGVS nomenclature.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8096" y="3639312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680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533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somatic from germline interpretation.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78728" y="3151632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9896" y="3639312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79896" y="36393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65112" y="3151632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clinically actionable reports.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8096" y="5309616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680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533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variants of uncertain significance and reanalysis.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78728" y="4821936"/>
            <a:ext cx="5346040" cy="1395984"/>
          </a:xfrm>
          <a:prstGeom prst="roundRect">
            <a:avLst>
              <a:gd name="adj" fmla="val 589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9896" y="5309616"/>
            <a:ext cx="420624" cy="420624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79896" y="5309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065112" y="4821936"/>
            <a:ext cx="4385920" cy="1395984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incidental/secondary findings.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WHAT WE WILL COVER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1682496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481328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frameworks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germline ACMG, somatic tiers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432304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98448" y="2432304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Nomenclature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HGVS and reference transcripts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49808" y="3584448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98448" y="3383280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vs somatic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different goals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66928" y="4334256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535424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535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98448" y="4334256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pPr algn="l" indent="0" marL="0">
              <a:buNone/>
            </a:pPr>
            <a:r>
              <a:rPr lang="en-US" sz="1200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actionability, VUS, incidental findings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5285232"/>
            <a:ext cx="11057839" cy="786384"/>
          </a:xfrm>
          <a:prstGeom prst="roundRect">
            <a:avLst>
              <a:gd name="adj" fmla="val 10465"/>
            </a:avLst>
          </a:prstGeom>
          <a:solidFill>
            <a:srgbClr val="F3F7FA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9808" y="5486400"/>
            <a:ext cx="384048" cy="384048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98448" y="5285232"/>
            <a:ext cx="10143439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ONE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Nomenclature</a:t>
            </a:r>
            <a:endParaRPr lang="en-US" sz="3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CLASSIFICATION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Frameworks: Germline vs Somatic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6648" y="1481328"/>
            <a:ext cx="10058400" cy="4160520"/>
          </a:xfrm>
          <a:prstGeom prst="roundRect">
            <a:avLst>
              <a:gd name="adj" fmla="val 1978"/>
            </a:avLst>
          </a:prstGeom>
          <a:solidFill>
            <a:srgbClr val="FFFFFF"/>
          </a:solidFill>
          <a:ln w="12700">
            <a:solidFill>
              <a:srgbClr val="DCE4EC"/>
            </a:solidFill>
            <a:prstDash val="solid"/>
          </a:ln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pic>
        <p:nvPicPr>
          <p:cNvPr id="5" name="Image 0" descr="/tmp/cp_work2/art/mol_varia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4664" y="1609344"/>
            <a:ext cx="9802368" cy="3904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57150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schematic. Germline ACMG/AMP classifies pathogenicity (5 classes); somatic AMP/ASCO/CAP tiers reflect clinical actionability.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FRAMEWORKS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and Somatic Classification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(ACMG/AMP)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classes: pathogenic, likely pathogenic, VUS, likely benign, benign.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codes (population frequency, functional data, segregation, computational) are weighted to a class.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is this variant disease-causing in this individual/family?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Reclassification occurs as evidence accrues.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(AMP/ASCO/CAP)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tiers by clinical significance: I (strong), II (potential), III (unknown), IV (benign).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is this variant clinically ACTIONABLE (therapy, prognosis, diagnosis)?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gene variant can be tiered differently by tumor type and context.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Actionability is dynamic as therapies and evidence change.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NOMENCLATURE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HGVS and Reference Transcripts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NOMENCLATURE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HGVS describes variants precisely at the DNA (c.), protein (p.), and genomic (g.) levels.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specify the reference transcript and genome build.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nomenclature can cause clinically dangerous misinterpretation.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c.1521_1523delCTT (p.Phe508del) for the canonical CFTR variant.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REPORTING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gene, transcript, c. and p. notation, zygosity, and classification.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evidence summary and classification rationale.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clinical recommendation explicit and bounded.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unambiguous, standardized terms throughout.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Reporting, VUS &amp; Incidental Findings</a:t>
            </a:r>
            <a:endParaRPr lang="en-US" sz="3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REPORTING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Reports and the VUS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REPORT USABLE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the clinically actionable result and its implication.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strongly actionable findings from uncertain ones.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limitations (coverage gaps, regions not assessed).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 confirmation or family testing where appropriate.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VUS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VUS is NOT a basis for clinical decisions — do not over- or under-call it.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reanalysis/reclassification as evidence evolves.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'VUS creep' into management.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uncertainty clearly to ordering clinicians.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INCIDENTAL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/ Incidental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FINDINGS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046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Genome/exome testing can reveal medically actionable findings unrelated to the indication (e.g., ACMG secondary-findings genes).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requires consent and a defined policy.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primary result from secondary findings in the report.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Germline implications affect family members.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8728" y="1517904"/>
            <a:ext cx="5346040" cy="4114800"/>
          </a:xfrm>
          <a:prstGeom prst="roundRect">
            <a:avLst>
              <a:gd name="adj" fmla="val 2000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6472" y="1682496"/>
            <a:ext cx="488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VS GERMLINE ORIGIN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16472" y="2029968"/>
            <a:ext cx="4870552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variant found in tumor testing may actually be germline — consider confirmatory germline testing for high-suspicion findings.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Tumor-only assays cannot definitively call germline status.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patterns suggesting hereditary cancer.</a:t>
            </a:r>
            <a:endParaRPr lang="en-US" sz="125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 for genetic counseling when germline disease is implicated.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5A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754880" cy="475488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931920"/>
            <a:ext cx="3108960" cy="3108960"/>
          </a:xfrm>
          <a:prstGeom prst="ellipse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783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E0F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66928" y="32461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250" kern="0" dirty="0">
                <a:solidFill>
                  <a:srgbClr val="F2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THREE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 &amp; Board Review</a:t>
            </a:r>
            <a:endParaRPr lang="en-US" sz="3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tumor NGS panel reports an EGFR variant with strong evidence supporting response to a targeted therapy in this tumor type.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this be tiered, and what does that mean for the report?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1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1: Tier I Somatic Variant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variant with strong, tumor-type-specific evidence for a targeted therapy is Tier I (strong clinical significance).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it prominently with the associated therapeutic implication.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tiering reflects ACTIONABILITY, not pathogenicity per se.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variant could be a different tier in another tumor type.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tiers are about clinical actionability in context — Tier I drives therapy; always state the tumor-type-specific evidence.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2788920"/>
          </a:xfrm>
          <a:prstGeom prst="roundRect">
            <a:avLst>
              <a:gd name="adj" fmla="val 2951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70078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VIGNETTE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41248" y="2029968"/>
            <a:ext cx="10509199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germline panel returns a missense change with conflicting/insufficient evidence — not clearly benign or pathogenic. The clinician asks whether to base risk-reducing surgery on it.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4553712"/>
            <a:ext cx="11057839" cy="1325880"/>
          </a:xfrm>
          <a:prstGeom prst="roundRect">
            <a:avLst>
              <a:gd name="adj" fmla="val 6207"/>
            </a:avLst>
          </a:prstGeom>
          <a:solidFill>
            <a:srgbClr val="0E3A5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4681728"/>
            <a:ext cx="640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1618488" y="4553712"/>
            <a:ext cx="9686239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classify and advise?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CASE 2  ·  RESOLUTION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2: Variant of Uncertain Significance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554480"/>
            <a:ext cx="6413547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as a VUS — evidence is insufficient to call pathogenic or benign.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VUS must NOT drive irreversible management such as risk-reducing surgery.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 reanalysis as evidence evolves and consider family/segregation studies.</a:t>
            </a:r>
            <a:endParaRPr lang="en-US" sz="1400" dirty="0"/>
          </a:p>
          <a:p>
            <a:pPr algn="l" marL="177800" indent="-177800"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Counsel the clinician and patient on the uncertainty.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422788" y="1554480"/>
            <a:ext cx="4201979" cy="3977640"/>
          </a:xfrm>
          <a:prstGeom prst="roundRect">
            <a:avLst>
              <a:gd name="adj" fmla="val 2069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660532" y="1755648"/>
            <a:ext cx="37447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POINT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660532" y="2121408"/>
            <a:ext cx="3726491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a VUS drive irreversible decisions; manage by clinical risk and pursue reclassification over time.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somatic variant framework (AMP/ASCO/CAP), tiers primarily reflect: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Pathogenicity for inherited disease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Clinical actionability (therapy/prognosis/diagnosis)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Allele frequency only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Variant size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Sequencing depth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Clinical actionability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Somatic tiers (I–IV) grade clinical significance/actionability in the tumor context, distinct from germline pathogenicity classification.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germline variant of uncertain significance (VUS) should be: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Treated as pathogenic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Treated as benign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Not used to guide clinical management; reanalyzed over time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Reported as a secondary finding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Ignored entirely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Not used for management; reanalyze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VUS lacks sufficient evidence for action; management follows clinical risk, with reclassification as new evidence emerges.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BOARD REVIEW  ·  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Board-Style Review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783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specifying the reference transcript essential in variant nomenclature?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395728"/>
            <a:ext cx="619239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It changes the patient’s genome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005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same nucleotide change can have different c./p. designations across transcripts, risking misinterpretation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It is only a formatting preference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It improves sequencing depth</a:t>
            </a:r>
            <a:endParaRPr lang="en-US" sz="135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It is required for billing only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7201632" y="2395728"/>
            <a:ext cx="4423136" cy="3246120"/>
          </a:xfrm>
          <a:prstGeom prst="roundRect">
            <a:avLst>
              <a:gd name="adj" fmla="val 2535"/>
            </a:avLst>
          </a:prstGeom>
          <a:solidFill>
            <a:srgbClr val="E0F2F4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39376" y="2578608"/>
            <a:ext cx="3965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 </a:t>
            </a:r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Avoids ambiguity across transcripts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39376" y="3127248"/>
            <a:ext cx="39476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depend on the chosen transcript and build; omitting them can cause dangerous misinterpretation of which variant is meant.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2A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76656"/>
            <a:ext cx="10972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Take-Home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17904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755648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755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17904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right framework: germline ACMG/AMP classifies pathogenicity (5 classes); somatic AMP/ASCO/CAP tiers reflect actionability (4 tiers).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505456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9" name="Shape 7"/>
          <p:cNvSpPr/>
          <p:nvPr/>
        </p:nvSpPr>
        <p:spPr>
          <a:xfrm>
            <a:off x="749808" y="2743200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4980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505456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HGVS nomenclature with the reference transcript and genome build — ambiguity is dangerous.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493008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3" name="Shape 11"/>
          <p:cNvSpPr/>
          <p:nvPr/>
        </p:nvSpPr>
        <p:spPr>
          <a:xfrm>
            <a:off x="749808" y="3730752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730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493008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VUS must not drive irreversible management; offer reanalysis over time.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66928" y="4480560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718304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" y="4718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4480560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Tumor-only results may reflect germline variants — confirm and refer when hereditary disease is implicated.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5468112"/>
            <a:ext cx="11057839" cy="841248"/>
          </a:xfrm>
          <a:prstGeom prst="roundRect">
            <a:avLst>
              <a:gd name="adj" fmla="val 7609"/>
            </a:avLst>
          </a:prstGeom>
          <a:solidFill>
            <a:srgbClr val="143651"/>
          </a:solidFill>
          <a:ln/>
        </p:spPr>
      </p:sp>
      <p:sp>
        <p:nvSpPr>
          <p:cNvPr id="21" name="Shape 19"/>
          <p:cNvSpPr/>
          <p:nvPr/>
        </p:nvSpPr>
        <p:spPr>
          <a:xfrm>
            <a:off x="749808" y="5705856"/>
            <a:ext cx="365760" cy="365760"/>
          </a:xfrm>
          <a:prstGeom prst="ellipse">
            <a:avLst/>
          </a:prstGeom>
          <a:solidFill>
            <a:srgbClr val="00838F"/>
          </a:solidFill>
          <a:ln/>
          <a:effectLst>
            <a:outerShdw sx="100000" sy="100000" kx="0" ky="0" algn="bl" rotWithShape="0" blurRad="88900" dist="25400" dir="5400000">
              <a:srgbClr val="22303C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57058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80160" y="5468112"/>
            <a:ext cx="10143439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E7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actionable, clearly written report — not the raw variant list — is the deliverable.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6928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E7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002975" y="6473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29184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&amp; CYTOGENETICS   ·   REFERENCES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713232"/>
            <a:ext cx="110642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11057839" cy="4828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Richards S, et al. ACMG/AMP Standards and guidelines for interpretation of sequence variants. Genet Med. 2015.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Li MM, et al. AMP/ASCO/CAP Standards for interpretation and reporting of somatic variants. J Mol Diagn. 2017.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den Dunnen JT, et al. HGVS recommendations for variant nomenclature. Hum Mutat. 2016.</a:t>
            </a:r>
            <a:endParaRPr lang="en-US" sz="115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150" dirty="0">
                <a:solidFill>
                  <a:srgbClr val="3344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Miller DT, et al. ACMG secondary findings recommendations (current version).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6473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Makassed General Hospital  ·  Department of Laboratory Medicine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A8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Lecture Series</a:t>
            </a:r>
            <a:pPr algn="r" indent="0" marL="0">
              <a:buNone/>
            </a:pPr>
            <a:r>
              <a:rPr lang="en-US" sz="850" dirty="0">
                <a:solidFill>
                  <a:srgbClr val="DC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r" indent="0" marL="0">
              <a:buNone/>
            </a:pPr>
            <a:r>
              <a:rPr lang="en-US" sz="850" b="1" dirty="0">
                <a:solidFill>
                  <a:srgbClr val="0083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Variant Interpretation &amp; Reporting</dc:title>
  <dc:subject>PptxGenJS Presentation</dc:subject>
  <dc:creator>Makassed General Hospital — Department of Laboratory Medicine</dc:creator>
  <cp:lastModifiedBy>Makassed General Hospital — Department of Laboratory Medicine</cp:lastModifiedBy>
  <cp:revision>1</cp:revision>
  <dcterms:created xsi:type="dcterms:W3CDTF">2026-06-28T05:50:49Z</dcterms:created>
  <dcterms:modified xsi:type="dcterms:W3CDTF">2026-06-28T05:50:49Z</dcterms:modified>
</cp:coreProperties>
</file>