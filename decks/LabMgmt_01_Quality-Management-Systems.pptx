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455A64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455A64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455A64">
              <a:alpha val="4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455A6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·  LECTURE 1 OF 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Management Systems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QC, QA, Westgard, Proficiency Testing, and Occurrence Management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QC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analytic error before results reach patients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Westgard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Multirules separate random from systematic error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Proficiency testing benchmarks you against peers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quality management system makes good results reproducible. Residents who understand QC charts, Westgard rules, proficiency testing, and occurrence management can keep a laboratory in control and improve it.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is built into the whole system — QC is one tool within a broader QMS spanning people, process, and documents.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Differentiate QC and QA within a quality management system.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Westgard rules and Levey-Jennings interpretation.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quality indicators and proficiency testing.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delta checks and their role.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occurrences with corrective and preventive action.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random from systematic error.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682496"/>
            <a:ext cx="384048" cy="384048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QMS, QC, and QA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the framework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432304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633472"/>
            <a:ext cx="384048" cy="384048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432304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Levey-Jennings &amp; Westgard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detecting analytic error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49808" y="3584448"/>
            <a:ext cx="384048" cy="384048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383280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Proficiency testing &amp; indicators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external benchmarking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535424"/>
            <a:ext cx="384048" cy="384048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4334256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Occurrence management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CAPA and improvement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5285232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49808" y="5486400"/>
            <a:ext cx="384048" cy="384048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5285232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C3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C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QMS and Statistical QC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FRAMEWORK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QC, QA, and the Quality Management System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QC (quality control): real-time checks that the analytic process is working (e.g., control materials).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(quality assurance): broader monitoring that the whole process meets requirements.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QMS: the overarching system — documents, personnel, equipment, processes, and continual improvement.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12 quality system essentials organize a QMS.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DISTINCTION MATTERS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QC catches the failing run; QA and the QMS prevent and reduce future failures.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indicators track performance across the testing cycle.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culture of quality spans pre-, intra-, and post-analytic phases.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and documentation hold it together.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STATISTICAL QC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Levey-Jennings and Westgard Rules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66648" y="1481328"/>
            <a:ext cx="10058400" cy="4160520"/>
          </a:xfrm>
          <a:prstGeom prst="roundRect">
            <a:avLst>
              <a:gd name="adj" fmla="val 1978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pic>
        <p:nvPicPr>
          <p:cNvPr id="5" name="Image 0" descr="/tmp/cp_work2/art/lab_q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4664" y="1609344"/>
            <a:ext cx="9802368" cy="39044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71500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Control values plotted against mean ± SD; multirules flag out-of-control runs and the type of error.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STATISTICAL QC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Chart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VS SYSTEMATIC ERROR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error widens the scatter (a precision problem) — flagged by rules like 1₃ₛ and R₄ₛ.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 error shifts or trends the mean (an accuracy problem) — flagged by 2₂ₛ, 4₁ₛ, 10ₓ.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sudden SHIFT suggests a new reagent lot or calibration.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gradual TREND suggests reagent or electrode deterioration.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ACTING ON VIOLATIONS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1₂ₛ is a warning; rules like 1₃ₛ / 2₂ₛ / R₄ₛ indicate rejection — stop, investigate, fix, repeat QC.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report patient results from an out-of-control run.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the investigation and corrective action.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rules and QC frequency to assay risk (individualized QC plans).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C3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C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Quality &amp; Occurrences</a:t>
            </a:r>
            <a:endParaRPr lang="en-US" sz="3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EXTERNAL QUALITY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Proficiency Testing &amp; Delta Checks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PROFICIENCY TESTING (PT)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samples tested blindly and compared with peers/reference — a regulatory requirement.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failures trigger investigation and corrective action.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must be handled like patient samples (no special treatment, no referral/sharing).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assessment is needed where formal PT is unavailable.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CHECKS &amp; INDICATORS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checks compare a new result with the patient’s prior value to catch mix-ups and large shifts.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indicators monitor TAT, specimen rejection, critical-value reporting, and more.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and trend indicators against targets.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them to drive improvement projects.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OCCURRENCES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Occurrence Management and CAPA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EVENTS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occurrences and near misses without blame to learn from them.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by severity and investigate proportionately.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Root-cause analysis for significant events (see Patient Safety lecture).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Corrective action fixes the event; preventive action stops recurrence (CAPA).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CONTINUAL IMPROVEMENT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Plan-Do-Check-Act / PDSA cycles structure improvement.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Measure, change, re-measure — close the loop.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 the bench staff who know the process.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 gains with standard work and monitoring.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C3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C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3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chemistry analyzer’s control suddenly jumps from around the mean to consistently +2.5 SD after a reagent lot change, holding steady there across the next several runs.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or systematic error? What is the likely cause and action?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Systematic Shift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abrupt, sustained move off the mean is a SHIFT — a systematic (accuracy) error.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with the reagent lot change points to lot/calibration as the cause.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reporting; recalibrate / verify the new lot; repeat QC before resuming.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the investigation and corrective action.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sudden, sustained offset = shift (often new lot/calibration); a gradual drift = trend (deterioration). The pattern names the cause.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potassium result of 6.8 triggers a delta-check flag because the patient’s value yesterday was 4.0, with no clinical change. The sample looks hemolyzed.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the delta check accomplish here?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Delta Check Catches an Artifact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check flagged a large, unexplained change — prompting review before release.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Hemolysis explains the spurious hyperkalemia (preanalytic error).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checks catch sample mix-ups and analytic/preanalytic problems.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Investigate, recollect, and report appropriately.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checks are a safety net for sample mix-ups and artifacts — a large unexplained change should be reconciled, not released.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Levey-Jennings chart, a gradual upward drift of the control mean over two weeks indicates: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Random error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 trend (systematic error, e.g., reagent deterioration)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Acceptable performance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A shift from a new lot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Clerical error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A trend (systematic error)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progressive drift is a trend, indicating systematic error such as deteriorating reagent or a failing electrode; an abrupt step would be a shift.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Proficiency testing samples must be: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Referred to another lab for help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Treated like routine patient samples, without inter-lab communication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Run only by the director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Discarded if abnormal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Tested in duplicate only for PT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Treated like patient samples; no inter-lab sharing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must reflect routine performance; referring PT samples or sharing results between laboratories is prohibited and a serious violation.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delta check is most useful for detecting: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 new reagent lot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Sample misidentification or a large unexplained change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Calibration drift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Proficiency testing failure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Reference interval errors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Sample mix-ups / large unexplained changes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checks compare current and prior results for the same patient, flagging implausible changes that suggest mislabeling or artifact.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755648"/>
            <a:ext cx="365760" cy="365760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QC catches the failing run; QA and the QMS prevent future failures across the whole testing cycle.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743200"/>
            <a:ext cx="365760" cy="365760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505456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Levey-Jennings + Westgard rules separate random (precision) from systematic (accuracy) error; a shift suggests lot/calibration, a trend suggests deterioration.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9300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3" name="Shape 11"/>
          <p:cNvSpPr/>
          <p:nvPr/>
        </p:nvSpPr>
        <p:spPr>
          <a:xfrm>
            <a:off x="749808" y="3730752"/>
            <a:ext cx="365760" cy="365760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493008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report patient results from an out-of-control run; investigate, fix, and repeat QC.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80560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718304"/>
            <a:ext cx="365760" cy="365760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718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480560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Proficiency testing benchmarks performance and must be handled like routine samples (no sharing/referral).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468112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21" name="Shape 19"/>
          <p:cNvSpPr/>
          <p:nvPr/>
        </p:nvSpPr>
        <p:spPr>
          <a:xfrm>
            <a:off x="749808" y="5705856"/>
            <a:ext cx="365760" cy="365760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705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468112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checks catch mix-ups and artifacts; manage occurrences with blameless CAPA and PDSA improvement.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CLSI C24: Statistical Quality Control for Quantitative Measurement Procedures.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Westgard JO. Basic QC Practices, 4th ed. Westgard QC, 2016.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CLSI QMS01: A Quality Management System Model for Laboratory Services.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CAP/CLIA proficiency testing requirements (current).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Quality Management Systems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2026-06-28T05:56:20Z</dcterms:created>
  <dcterms:modified xsi:type="dcterms:W3CDTF">2026-06-28T05:56:20Z</dcterms:modified>
</cp:coreProperties>
</file>