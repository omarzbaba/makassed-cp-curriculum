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188720"/>
            <a:ext cx="4480560" cy="4480560"/>
          </a:xfrm>
          <a:prstGeom prst="ellipse">
            <a:avLst/>
          </a:prstGeom>
          <a:solidFill>
            <a:srgbClr val="6A1B9A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2743200"/>
            <a:ext cx="2468880" cy="2468880"/>
          </a:xfrm>
          <a:prstGeom prst="ellipse">
            <a:avLst/>
          </a:prstGeom>
          <a:solidFill>
            <a:srgbClr val="6A1B9A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3611880"/>
            <a:ext cx="1143000" cy="1143000"/>
          </a:xfrm>
          <a:prstGeom prst="ellipse">
            <a:avLst/>
          </a:prstGeom>
          <a:solidFill>
            <a:srgbClr val="6A1B9A">
              <a:alpha val="4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078992"/>
            <a:ext cx="5532120" cy="420624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07899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LECTURE SERIES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·  LECTURE 1 OF 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Immunoassay Principles &amp; Test Performance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66928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Sensitivity, Specificity, Predictive Values, and Interference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5074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Tamima El-Jisr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Chairperson, Department of Laboratory Medicine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Hospital, Beirut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99855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FRAMING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PPV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prevalence — a great test can still mislead in low-probability settings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4314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44314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90618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Screen-then-confirm algorithms control false positives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1701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21701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68005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Heterophile antibodies are the classic immunoassay trap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361188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serologic result is a probability statement. Knowing how sensitivity, specificity, and prevalence interact — and how immunoassays fail — lets you interpret results as a consultant rather than a number-reader.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Pretest probability is part of the result: the same positive test means different things in different patients.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69008"/>
            <a:ext cx="420624" cy="420624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sensitivity, specificity, PPV, and NPV.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9896" y="1969008"/>
            <a:ext cx="420624" cy="420624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98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51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prevalence drives predictive values.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" y="3639312"/>
            <a:ext cx="420624" cy="420624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heterophile and other immunoassay interferences.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9896" y="3639312"/>
            <a:ext cx="420624" cy="420624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798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51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reflex and confirmatory testing logic.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" y="5309616"/>
            <a:ext cx="420624" cy="420624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80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likelihood ratios at a working level.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7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9896" y="5309616"/>
            <a:ext cx="420624" cy="420624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798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51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gray-zone and equivocal results.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WHAT WE WILL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82496"/>
            <a:ext cx="384048" cy="384048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sensitivity, specificity, PPV, NPV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43230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432304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&amp; predictive value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why context matters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83280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heterophile, biotin, cross-reactivity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535424"/>
            <a:ext cx="384048" cy="384048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334256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reflex and confirmation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28523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486400"/>
            <a:ext cx="384048" cy="384048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285232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12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1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Predictive Value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TEST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2×2 Table and the Power of Prevalence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6648" y="1481328"/>
            <a:ext cx="10058400" cy="4288536"/>
          </a:xfrm>
          <a:prstGeom prst="roundRect">
            <a:avLst>
              <a:gd name="adj" fmla="val 191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pic>
        <p:nvPicPr>
          <p:cNvPr id="5" name="Image 0" descr="/tmp/cp_work2/art/immuno_per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4664" y="1609344"/>
            <a:ext cx="9802368" cy="40325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84301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Sensitivity/specificity are test properties; PPV/NPV depend on prevalence (pretest probability).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METRICS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Metric Tells You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1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TEST PROPERTIES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Sensitivity: proportion of diseased correctly called positive — high sensitivity, a negative rules OUT (SnNOut).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Specificity: proportion of well correctly called negative — high specificity, a positive rules IN (SpPIn).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choosing screening (sensitive) vs confirmatory (specific) tests.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of prevalence.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1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CONTEXT-DEPENDENT VALUES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PPV/NPV depend on prevalence (pretest probability).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low-prevalence screening, even specific tests yield many false positives (low PPV).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ratios combine with pretest odds to give posttest odds.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interpret the result against the clinical probability.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12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1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&amp; Algorithms</a:t>
            </a:r>
            <a:endParaRPr lang="en-US" sz="3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INTERFERENCE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Immunoassays Mislead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1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ANTIBODY &amp; ANALYTE INTERFERENCES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Heterophile antibodies bridge capture/detection antibodies → false positives/elevations.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Biotin (streptavidin-biotin assays) shifts results by assay design.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Cross-reactivity with structurally similar molecules.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high-dose hook effect (very high analyte reads low).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1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AND RESOLVE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 interference when the result defies the clinical picture.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Non-linearity on serial dilution suggests interference.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Heterophile-blocking tubes or an alternative platform confirm.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biotin before testing; reconcile with context.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ALGORITHMS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Then Confirm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442106" cy="1188720"/>
          </a:xfrm>
          <a:prstGeom prst="roundRect">
            <a:avLst>
              <a:gd name="adj" fmla="val 5385"/>
            </a:avLst>
          </a:prstGeom>
          <a:solidFill>
            <a:srgbClr val="6A1B9A"/>
          </a:solidFill>
          <a:ln w="15875">
            <a:solidFill>
              <a:srgbClr val="6A1B9A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828800"/>
            <a:ext cx="3332378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SCREEN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out disease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027322" y="2423160"/>
            <a:ext cx="329184" cy="0"/>
          </a:xfrm>
          <a:prstGeom prst="line">
            <a:avLst/>
          </a:prstGeom>
          <a:noFill/>
          <a:ln w="22225">
            <a:solidFill>
              <a:srgbClr val="6A1B9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374794" y="1828800"/>
            <a:ext cx="3442106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5875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29658" y="1828800"/>
            <a:ext cx="3332378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CONFIRM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test on positives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835189" y="2423160"/>
            <a:ext cx="329184" cy="0"/>
          </a:xfrm>
          <a:prstGeom prst="line">
            <a:avLst/>
          </a:prstGeom>
          <a:noFill/>
          <a:ln w="22225">
            <a:solidFill>
              <a:srgbClr val="6A1B9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82661" y="1828800"/>
            <a:ext cx="3442106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5875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37525" y="1828800"/>
            <a:ext cx="3332378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with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interpretation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246120"/>
            <a:ext cx="11057839" cy="914400"/>
          </a:xfrm>
          <a:prstGeom prst="roundRect">
            <a:avLst>
              <a:gd name="adj" fmla="val 9000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" y="3246120"/>
            <a:ext cx="105091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Screen-then-confirm pairs a sensitive first test (few false negatives) with a specific confirmatory test (controls false positives) — the logic behind HIV, syphilis, and many serologic algorithms.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4343400"/>
            <a:ext cx="11057839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Equivocal/gray-zone results: repeat, use an orthogonal method, or follow with paired/convalescent sampling.</a:t>
            </a:r>
            <a:endParaRPr lang="en-US" sz="12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presumptive vs confirmed clearly.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A12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1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3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CASE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healthy 25-year-old is screened for a rare disease (prevalence ~1 in 10,000) with a test that is 99% sensitive and 99% specific. The result is positive.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likely is true disease, and what does this teach about screening?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CASE 1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Low Prevalence, Low PPV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excellent sensitivity/specificity, the PPV is very low at such low prevalence — most positives are false.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Approximately: of 10,000 people, ~1 true case and ~100 false positives → PPV ~1%.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positive screen in a low-probability setting demands confirmation before action.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Pretest probability is decisive.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low-prevalence screening, a positive result is more likely false than true — always confirm and interpret against pretest probability.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non-pregnant woman has a positive qualitative hCG by one immunoassay but negative urine hCG and no clinical correlate. Serial dilution is non-linear; a second platform is negative.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interference and how was it confirmed?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CASE 2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Heterophile Interference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Heterophile antibodies produced a false-positive serum hCG.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Non-linearity on dilution is a classic clue.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(which excludes most heterophiles) negative + a negative alternative platform confirm the artifact.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this avoids unnecessary, harmful interventions.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Discordant results, non-linear dilution, and a negative orthogonal method point to heterophile interference — do not act on the false positive.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highly SENSITIVE test is most useful clinically to: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Confirm disease when positive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4A1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Rule OUT disease when negative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Estimate prevalence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Replace clinical judgment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Increase false positives intentionally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Rule out disease when negative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sensitivity means few false negatives, so a negative result effectively rules out disease (SnNOut). Specific tests are better for ruling in.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disease prevalence falls, with sensitivity and specificity held constant: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4A1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PPV falls and NPV rises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PPV rises and NPV falls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Both rise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Both fall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Neither changes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PPV falls, NPV rises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prevalence increases the proportion of false positives among positives (lower PPV) and makes negatives more reliable (higher NPV).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surprising immunoassay result shows non-linearity on serial dilution. This most suggests: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 true high value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4A1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Assay interference (e.g., heterophile)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Correct calibration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Low prevalence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High specificity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F1E8F7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Assay interference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analytes dilute linearly; non-linearity indicates interference such as heterophile antibodies, warranting confirmation by another method.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Sensitivity/specificity are test properties; PPV/NPV depend on prevalence — interpret every result against pretest probability.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505456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743200"/>
            <a:ext cx="365760" cy="365760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505456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SnNOut / SpPIn: sensitive tests rule out, specific tests rule in.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730752"/>
            <a:ext cx="365760" cy="365760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Screen-then-confirm controls false positives; report presumptive vs confirmed.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718304"/>
            <a:ext cx="365760" cy="365760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 interference (heterophile, biotin, hook) when a result defies the clinic; dilution non-linearity is a clue.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468112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5705856"/>
            <a:ext cx="365760" cy="365760"/>
          </a:xfrm>
          <a:prstGeom prst="ellipse">
            <a:avLst/>
          </a:prstGeom>
          <a:solidFill>
            <a:srgbClr val="6A1B9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468112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positive screen in a low-prevalence setting is often false — confirm before acting.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IMMUNOLOGY &amp; SEROLOGY   ·   REFERENCES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82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Rifai N, et al. Tietz Textbook of Clinical Chemistry and Molecular Diagnostics, 6th ed. Elsevier, 2018.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Fritsma GA / textbook chapters on test performance and predictive value.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Sturgeon CM, et al. Immunoassay interference (heterophile). Clin Chem reviews.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CLSI EP12: User Protocol for Evaluation of Qualitative Test Performance.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Immunoassay Principles &amp; Test Performance</dc:title>
  <dc:subject>PptxGenJS Presentation</dc:subject>
  <dc:creator>Makassed General Hospital — Department of Laboratory Medicine</dc:creator>
  <cp:lastModifiedBy>Makassed General Hospital — Department of Laboratory Medicine</cp:lastModifiedBy>
  <cp:revision>1</cp:revision>
  <dcterms:created xsi:type="dcterms:W3CDTF">2026-06-28T05:45:22Z</dcterms:created>
  <dcterms:modified xsi:type="dcterms:W3CDTF">2026-06-28T05:45:22Z</dcterms:modified>
</cp:coreProperties>
</file>