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9" r:id="rId40"/>
    <p:sldId id="281" r:id="rId27"/>
    <p:sldId id="288" r:id="rId39"/>
    <p:sldId id="282" r:id="rId28"/>
    <p:sldId id="287" r:id="rId38"/>
    <p:sldId id="283" r:id="rId29"/>
    <p:sldId id="286" r:id="rId37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AD14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AD1457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AD1457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·  LECTURE 4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Therapy &amp; Massive Transfusion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Product, Dose, and Ratio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red-cell thresholds are as safe as liberal ones in most stable patients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1:1:1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ratios in massive hemorrhage mimic whole blood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Ca²⁺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from rapid transfusion lowers ionized calcium — monitor and replace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blood is fractionated so each patient receives only the component they need. Knowing each product’s content, indication, dose, and expected increment — and how to resuscitate massive hemorrhage — is daily consultative blood-bank work.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Over-transfusion has real harm (TACO, alloimmunization, cost) — the goal is the minimum effective dose, not a normal number.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LECTURE 4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blood component’s content, indication, and expected dose response.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evidence-based red-cell and platelet transfusion thresholds.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plasma and cryoprecipitate appropriately, including fibrinogen replacement.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a massive transfusion protocol and balanced resuscitation ratios.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manage the metabolic complications of massive transfusion.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platelet refractoriness and its laboratory evaluation.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content, indications, dose and increment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thresholds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restrictive practice and stewardship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transfusion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balanced ratios and viscoelastic guidance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complications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citrate, potassium, temperature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trauma, thresholds, citrate toxicity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Components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Whole Blood to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04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One donation is fractionated so each patient receives only the component indicated.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Components at a Glance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017520"/>
                <a:gridCol w="300837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indication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Packed red cells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cells (Hct ~55–65%)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Symptomatic anemia / O₂ delivery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↑ Hb ~1 g/dL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Platelets (apheresis)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~3–4 × 10¹¹ platelets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Thrombocytopenia / dysfunction with bleeding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~30–50 × 10⁹/L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frozen plasma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coagulation factors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Multifactor deficiency, reversal, TTP (TPE)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mL/kg dosing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Cryoprecipitate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Fibrinogen, FVIII, vWF, FXIII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Hypofibrinogenemia (e.g., DIC, trauma)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6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Raises fibrinogen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chosen by deficit: red cells for oxygen delivery, platelets for primary hemostasis, plasma for factor replacement, cryoprecipitate for fibrinogen.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Dose, Increment, and Refractoriness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RESPONSES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unit of red cells raises hemoglobin by ~1 g/dL (hematocrit ~3%) in a stable adult.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apheresis platelet dose raises the count ~30–50 × 10⁹/L.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is dosed by weight (~10–15 mL/kg) to correct factor levels.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clinically and with labs rather than chasing a single number.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REFRACTORINESS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increment after platelet transfusion on ≥ 2 occasions.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corrected count increment (CCI) at ~10–60 min and ~1 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Non-immune causes (fever, sepsis, splenomegaly, DIC, drugs) are most common — poor 1-hour CCI.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(HLA / HPA alloimmunization) — poor 10–60-min CCI → HLA-matched platelets.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&amp; Stewardship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THRESHOLDS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Red-Cell and Platelet Triggers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CELLS — RESTRICTIVE PRACTICE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restrictive threshold (Hb ~7 g/dL) is as safe as a liberal one for most hospitalized, hemodynamically stable patients.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g/dL is reasonable in symptomatic cardiac disease or peri-operatively in some patients.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Transfuse to relieve symptoms / restore oxygen delivery, not to a number.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hemorrhage is judged clinically, not by a single hemoglobin.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 — COMMON THRESHOLDS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× 10⁹/L — prophylaxis in stable hypoproliferative thrombocytopenia.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× 10⁹/L — added risk factors (fever, sepsis).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× 10⁹/L — most invasive procedures / active bleeding.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× 10⁹/L — neurosurgery / CNS bleeding.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platelets in TTP/HIT unless life-threatening bleeding.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THRESHOLDS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and Cryoprecipitate — Use Them 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(FFP)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Indicated for bleeding/procedures with MULTIPLE factor deficiencies (e.g., liver disease, DIC, warfarin with bleeding when PCC unavailable).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minor INR elevations without bleeding, and not as a volume expander.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mL/kg has a modest effect — under-dosing is common.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plasma for TTP is delivered by therapeutic plasma exchange.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CRYOPRECIPITATE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source of fibrinogen (plus FVIII, vWF, FXIII).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to replace fibrinogen in hypofibrinogenemia (DIC, trauma, obstetric hemorrhage).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fibrinogen replacement, not general factor replacement.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Fibrinogen concentrate is an alternative where available.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Transfusion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MASSIVE TRANSFUSION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Resuscitation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98168" y="1481328"/>
            <a:ext cx="8595360" cy="3438144"/>
          </a:xfrm>
          <a:prstGeom prst="roundRect">
            <a:avLst>
              <a:gd name="adj" fmla="val 239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tp_rat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184" y="1609344"/>
            <a:ext cx="8339328" cy="3182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99262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Approximately equal ratios of red cells, plasma, and platelets reconstitute whole blood and limit dilutional coagulopathy.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MASSIVE TRANSFUSION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and Viscoelastic Guidance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MASSIVE TRANSFUSION PROTOCOL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large-volume replacement (e.g., ≥ ~10 units RBC / 24 h, or rapid loss of one blood volume).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Pre-set, balanced packs delivered immediately on activation (RBC : plasma : platelets ≈ 1 : 1 : 1).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dilutional, hypothermic, acidotic 'lethal triad' of trauma.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tranexamic acid and calcium per protocol; communicate clearly with the blood bank.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VISCOELASTIC-GUIDED THERAPY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 / ROTEM give rapid, whole-blood clot dynamics at the bedside.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targeted replacement: low fibrinogen → cryoprecipitate; prolonged clotting → plasma; poor clot strength → platelets.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de-escalate from fixed ratios to goal-directed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product use once hemorrhage is controlled.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Toxicity &amp; Ionized Calcium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23848" y="1481328"/>
            <a:ext cx="91440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cit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864" y="1609344"/>
            <a:ext cx="8887968" cy="3401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Citrate anticoagulant chelates ionized calcium during rapid, large-volume transfusion or apheresis.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COMPLICATIONS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Metabolic Hazards of Massive Transfusion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 &amp; METABOLIC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toxicity → ↓ ionized calcium (paresthesia, hypotension, QT prolongation) — monitor and replace calcium.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 from stored-cell potassium leak (worse with old units, rapid infusion, neonates).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 from cold products → use warmers; cold worsens coagulopathy.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Acid-base shifts (early acidosis, later citrate-derived metabolic alkalosis).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Dilutional coagulopathy and thrombocytopenia if replacement is unbalanced.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'lethal triad': hypothermia + acidosis + coagulopathy.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ratios and viscoelastic guidance mitigate these.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ionized calcium, potassium, fibrinogen, and temperature throughout.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trauma patient arrives in hemorrhagic shock with ongoing bleeding. The massive transfusion protocol is activated. After several units of red cells alone, the patient becomes diffusely oozy and hypothermic; fibrinogen is low.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with red-cells-only resuscitation, and how should the strategy change?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Balanced Resuscitation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Red-cells-only resuscitation dilutes platelets and clotting factors → dilutional coagulopathy and oozing.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balanced ratios (RBC : plasma : platelets ≈ 1 : 1 : 1) per the massive transfusion protocol.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fibrinogen with cryoprecipitate; give calcium for citrate-induced hypocalcemia; actively warm the patient.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TEG/ROTEM to target ongoing product needs and de-escalate when bleeding is controlled.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hemorrhage needs whole-blood-like replacement from the start; correcting hypothermia and hypocalcemia is part of the resuscitation, not an afterthought.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patient with hypoproliferative thrombocytopenia (platelets 14 × 10⁹/L) and no bleeding is scheduled for a lumbar puncture. The team asks whether to transfuse platelets and to what target.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threshold applies for the procedure, and what would you advise?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Procedural Platelet Threshold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Prophylaxis at rest is reasonable around 10 × 10⁹/L, but a procedure raises the target.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invasive procedures, including lumbar puncture, target roughly 50 × 10⁹/L.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Transfuse to reach the procedural threshold close to the time of the procedure.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indication; avoid reflexive over-transfusion once the target is met.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platelet target to the bleeding risk of the setting: ~10 at rest, ~50 for most procedures, ~100 for CNS.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rapid transfusion of multiple units, a patient develops perioral tingling, muscle twitching, and a falling blood pressure. The ECG shows a prolonged QT interval. Potassium is normal.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metabolic cause, and what is the immediate treatment?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Citrate-Induced Hypocalcemia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from rapidly infused products chelates ionized calcium → symptomatic hypocalcemia.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Signs: paresthesia, tetany/twitching, hypotension, and a prolonged QT interval.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IONIZED calcium (total calcium is misleading) and replace calcium.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the infusion if feasible and continue monitoring during ongoing transfusion.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rapid or large-volume transfusion (and apheresis), follow ionized calcium — citrate toxicity is common, predictable, and treatable.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stable, hospitalized adults without active cardiac ischemia, the evidence supports which red-cell transfusion threshold?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Hemoglobin 10 g/dL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Hemoglobin 9 g/dL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restrictive threshold around 7 g/dL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Transfuse based on hematocrit &gt; 30%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Transfuse all symptomatic and asymptomatic anemia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bleeding patient with DIC has a fibrinogen of 80 mg/dL. Which product most directly and efficiently replaces fibrinogen?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Packed red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Platelets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Cryoprecipitate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Albumin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Normal saline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massive transfusion, a patient develops tetany, hypotension, and a prolonged QT. Which is the best immediate test and treatment?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Total calcium; give potassium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Ionized calcium; give calcium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Magnesium; give magnesium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Lactate; give bicarbonate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 action needed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shows a poor platelet increment at 10–60 minutes after several transfusions, with good counts predicted otherwise. Which mechanism is most likely?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Fever and sepsis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Splenomegaly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HLA alloimmunization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Disseminated intravascular coagulation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Dilution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components by deficit: red cells for oxygen delivery, platelets for primary hemostasis, plasma for factors, cryoprecipitate for fibrinogen.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restrictive red-cell thresholds (~7 g/dL; ~8 in selected cardiac patients); match platelet targets to the setting (~10 / ~50 / ~100).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hemorrhage: balanced ~1:1:1 ratios from the start, then de-escalate with viscoelastic testing.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ionized calcium (citrate), potassium, fibrinogen, and temperature during massive transfusion.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AD145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immune (poor early CCI → HLA-matched) from non-immune (poor 1-h CCI) platelet refractoriness.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Carson JL, et al. Clinical Practice Guidelines From the AABB: Red Blood Cell Transfusion Thresholds and Storage. JAMA. 2016/2023 updates.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Kaufman RM, et al. Platelet Transfusion: A Clinical Practice Guideline From the AABB. Ann Intern Med. 2015.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Cohn CS, et al. (eds). AABB Technical Manual, 20th ed. AABB Press, 2020 (components; massive transfusion).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Cap AP, et al. Damage-control resuscitation and balanced transfusion ratios (current reviews).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shows a poor platelet increment at 10–60 minutes after several transfusions, with good counts predicted otherwise. Which mechanism is most likely?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Fever and sepsis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Splenomegaly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HLA alloimmunization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Disseminated intravascular coagulation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Dilution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HLA alloimmunization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immediate (10–60 min) corrected count increment suggests immune (HLA/HPA) refractoriness → HLA-matched platelets. Non-immune causes (fever, sepsis, splenomegaly, DIC) typically show a poor 1-hour CCI.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massive transfusion, a patient develops tetany, hypotension, and a prolonged QT. Which is the best immediate test and treatment?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Total calcium; give potassium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Ionized calcium; give calcium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Magnesium; give magnesium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Lactate; give bicarbonate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 action needed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Ionized calcium; replace calcium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Citrate chelates ionized calcium. Measure ionized (not total) calcium and replace it. Hypothermia and hyperkalemia should also be monitored during massive transfusion.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bleeding patient with DIC has a fibrinogen of 80 mg/dL. Which product most directly and efficiently replaces fibrinogen?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Packed red cells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Platelets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Cryoprecipitate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Albumin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Normal saline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Cryoprecipitate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Cryoprecipitate is the concentrated source of fibrinogen (also FVIII, vWF, FXIII) and is first-line for hypofibrinogenemia. Fibrinogen concentrate is an alternative where available.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MEDICINE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stable, hospitalized adults without active cardiac ischemia, the evidence supports which red-cell transfusion threshold?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Hemoglobin 10 g/dL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Hemoglobin 9 g/dL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0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restrictive threshold around 7 g/dL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Transfuse based on hematocrit &gt; 30%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Transfuse all symptomatic and asymptomatic anemia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8E7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Restrictive threshold ~7 g/dL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data show a restrictive strategy (~7 g/dL, ~8 in selected cardiac/peri-operative patients) is as safe as a liberal strategy and reduces exposure. Transfuse for symptoms, not a number.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 Therapy and Massive Transfusion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2026-06-28T05:26:20Z</dcterms:created>
  <dcterms:modified xsi:type="dcterms:W3CDTF">2026-06-28T05:26:20Z</dcterms:modified>
</cp:coreProperties>
</file>