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188720"/>
            <a:ext cx="4480560" cy="4480560"/>
          </a:xfrm>
          <a:prstGeom prst="ellipse">
            <a:avLst/>
          </a:prstGeom>
          <a:solidFill>
            <a:srgbClr val="00838F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2743200"/>
            <a:ext cx="2468880" cy="2468880"/>
          </a:xfrm>
          <a:prstGeom prst="ellipse">
            <a:avLst/>
          </a:prstGeom>
          <a:solidFill>
            <a:srgbClr val="00838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3611880"/>
            <a:ext cx="1143000" cy="1143000"/>
          </a:xfrm>
          <a:prstGeom prst="ellipse">
            <a:avLst/>
          </a:prstGeom>
          <a:solidFill>
            <a:srgbClr val="00838F">
              <a:alpha val="4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078992"/>
            <a:ext cx="5532120" cy="420624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7899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LECTURE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·  LECTURE 1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Methods for Residents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66928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PCR, Real-Time/Digital PCR, Sequencing &amp; Hybridization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Tamima El-Jisr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Department of Laboratory Medicine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Hospital, Beirut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9985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FRAMING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Amplifies a target sequence exponentially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4314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44314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qPCR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90618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Quantifies in real time via cycle threshold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1701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21701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68005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Massively parallel sequencing reads millions of fragments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36118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diagnostics rests on a handful of core methods. Knowing what each technique measures — and its limits — lets you choose the right test and interpret it correctly.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method to the question: known target vs discovery, qualitative vs quantitative, single locus vs genome-wide.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69008"/>
            <a:ext cx="420624" cy="420624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conventional PCR and its components.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9896" y="1969008"/>
            <a:ext cx="420624" cy="420624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98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51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real-time (quantitative) and digital PCR.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" y="3639312"/>
            <a:ext cx="420624" cy="420624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Sanger and next-generation sequencing.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9896" y="3639312"/>
            <a:ext cx="420624" cy="420624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798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51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hybridization methods (FISH, arrays) at a high level.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5309616"/>
            <a:ext cx="420624" cy="420624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80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contamination and pre-analytic pitfalls in molecular testing.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9896" y="5309616"/>
            <a:ext cx="420624" cy="420624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798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51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appropriate method for a clinical question.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WHAT WE WILL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fundamentals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amplification and components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43230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&amp; digital PCR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quantitation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83280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Sanger vs NGS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535424"/>
            <a:ext cx="384048" cy="384048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334256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Hybridization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FISH, arrays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486400"/>
            <a:ext cx="384048" cy="384048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285232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5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0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&amp; Quantitation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PCR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Polymerase Chain Reaction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6648" y="1481328"/>
            <a:ext cx="10058400" cy="4187952"/>
          </a:xfrm>
          <a:prstGeom prst="roundRect">
            <a:avLst>
              <a:gd name="adj" fmla="val 196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mol_pc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4664" y="1609344"/>
            <a:ext cx="9802368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74243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Denature–anneal–extend cycling amplifies a defined target exponentially.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PCR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&amp; Cycling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PCR NEEDS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Template, primers, dNTPs, thermostable polymerase, and buffer with magnesium.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 per cycle: denaturation, annealing, extension.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design and specificity determine performance.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transcription (RT-PCR) converts RNA to cDNA first.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DDF0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&amp; LIMITS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Exquisitely sensitive — which makes contamination control critical.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known targets, not unknown sequences.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Inhibitors (heparin, hemoglobin) can cause false negatives.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controls to detect inhibition and contamination.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QUANTITATION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and Digital PCR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(QPCR)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Fluorescence is measured each cycle; the cycle threshold (Ct) reflects starting target amount.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Ct → more starting template.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relative or absolute quantitation against standards.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Melt-curve analysis checks amplicon specificity.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DDF0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PCR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 the sample into thousands of reactions for absolute quantitation without a standard curve.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for low-level targets and small fold-changes.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minimal residual disease and rare variants.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tolerant of some inhibitors.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5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0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&amp; Hybridization</a:t>
            </a:r>
            <a:endParaRPr lang="en-US" sz="3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SEQUENCING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Sanger vs Next-Generation Sequencing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5208" y="1481328"/>
            <a:ext cx="10241280" cy="4261104"/>
          </a:xfrm>
          <a:prstGeom prst="roundRect">
            <a:avLst>
              <a:gd name="adj" fmla="val 193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mol_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224" y="1609344"/>
            <a:ext cx="9985248" cy="4005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81558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Sanger reads one amplicon at high confidence; NGS reads millions of fragments in parallel.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SEQUENCING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Sequencing Approach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SANGER SEQUENCING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 for single amplicons; ~15–20% limit of detection for variants.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fast for one target.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used to confirm NGS findings.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suited to many targets or low-level variants.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DDF0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NEXT-GENERATION SEQUENCING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Massively parallel; panels, exomes, or genomes; detects low variant allele fractions.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of coverage governs sensitivity.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large bioinformatic output (alignment, variant calling).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multi-gene panels and discovery.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HYBRIDIZATION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&amp; Microarrays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Fluorescent probes detect specific fusions, deletions, or amplifications in situ.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interphase or metaphase cells.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— you must know what to look for.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for known rearrangements (e.g., fusions).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DDF0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MICROARRAYS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Genome-wide copy-number and (with SNPs) loss of heterozygosity.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microdeletions/duplications beyond karyotype resolution.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detect balanced rearrangements.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sequencing and FISH.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5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0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Pitfalls, Cases &amp; Board</a:t>
            </a:r>
            <a:endParaRPr lang="en-US" sz="3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PITFALLS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&amp; Pre-Analytics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CONTROL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Amplicon carryover and cross-contamination cause false positives — separate pre/post-PCR areas.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unidirectional workflow and controls.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No-template controls detect contamination.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dUTP/UNG systems reduce carryover.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DDF0E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PRE-ANALYTIC INTEGRITY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Nucleic acid quality depends on specimen type, fixation, and storage.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FFPE degrades and chemically damages DNA.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Heparin inhibits PCR; use appropriate tubes.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is labile — handle and store carefully.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qualitative PCR for a viral target is negative, but clinical suspicion is high and the internal control failed to amplify.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interpret this result?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CASE 1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PCR Inhibition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internal control indicates inhibition — the negative result is uninterpretable, not truly negative.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Inhibitors (heparin, hemoglobin) or poor extraction may be responsible.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after dilution or re-extraction.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report a 'negative' when controls fail.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amplification controls — a negative target with a failed control means inhibition, not absence of the target.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low-level variant suspected at ~5% allele fraction is not seen on Sanger sequencing.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Why, and what method would detect it?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CASE 2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Limit of Detection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Sanger’s detection limit (~15–20%) is above a 5% variant, so it can miss low-level variants.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 with adequate depth or digital PCR detects low allele fractions.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method by the expected variant level.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critical low-level calls appropriately.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method sensitivity to the question — Sanger misses low-fraction variants that NGS or digital PCR can detect.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CASE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 shows amplification in the no-template control.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indicate and what must be done?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CASE 3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Contaminated Run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Amplification in the no-template control indicates contamination — results from that run are invalid.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remediate (workflow separation, reagents, surfaces).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testing after decontamination.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corrective action.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positive no-template control invalidates the run; molecular labs depend on rigorous contamination control and unidirectional workflow.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qPCR, a lower cycle threshold (Ct) indicates: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Less starting template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More starting template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Contamination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Inhibition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A failed run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More starting template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is inversely related to the amount of starting target; lower Ct means more template.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method provides absolute quantitation without a standard curve?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Conventional PCR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Sanger sequencing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Digital PCR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FISH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Microarray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Digital PCR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PCR partitions the reaction to count targets directly, giving absolute quantitation without a standard curve.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(reciprocal) translocation is NOT detectable by: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Karyotype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FISH (break-apart probe)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Chromosomal microarray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RT-PCR for the fusion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Metaphase analysis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Chromosomal microarray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detect copy-number change; a balanced translocation has no net copy-number change and is missed.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BOARD REVIEW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reason to separate pre- and post-PCR work areas is to: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Improve sensitivity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Prevent amplicon carryover contamination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Speed up cycling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Reduce reagent cost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Increase Ct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Prevent amplicon carryover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Post-PCR amplicons are a major contamination source; unidirectional workflow prevents false positives.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amplifies a known target exponentially — highly sensitive, so contamination control is essential.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743200"/>
            <a:ext cx="365760" cy="365760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05456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qPCR quantifies via Ct (lower Ct = more template); digital PCR gives absolute counts and detects rare targets.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730752"/>
            <a:ext cx="365760" cy="365760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Sanger is the single-amplicon gold standard (~15–20% LoD); NGS reads millions of fragments and detects low allele fractions.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718304"/>
            <a:ext cx="365760" cy="365760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targets known rearrangements; microarrays give genome-wide copy number but miss balanced rearrangements.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468112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5705856"/>
            <a:ext cx="365760" cy="365760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468112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interpret controls: failed internal control = inhibition; positive no-template control = contamination.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REFERENCES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Buckingham L. Molecular Diagnostics, 3rd ed. F.A. Davis.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Coleman WB, Tsongalis GJ. Molecular Diagnostics for the Clinical Laboratorian.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CLSI MM01/MM09 (molecular methods).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Leonard DGB. Molecular Pathology in Clinical Practice, 2nd ed.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Molecular Methods for Residents</dc:title>
  <dc:subject>PptxGenJS Presentation</dc:subject>
  <dc:creator>Makassed General Hospital — Department of Laboratory Medicine</dc:creator>
  <cp:lastModifiedBy>Makassed General Hospital — Department of Laboratory Medicine</cp:lastModifiedBy>
  <cp:revision>1</cp:revision>
  <dcterms:created xsi:type="dcterms:W3CDTF">2026-06-28T07:09:05Z</dcterms:created>
  <dcterms:modified xsi:type="dcterms:W3CDTF">2026-06-28T07:09:05Z</dcterms:modified>
</cp:coreProperties>
</file>