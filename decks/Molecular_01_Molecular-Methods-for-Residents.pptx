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85" r:id="rId36"/>
    <p:sldId id="277" r:id="rId23"/>
    <p:sldId id="284" r:id="rId35"/>
    <p:sldId id="278" r:id="rId24"/>
    <p:sldId id="283" r:id="rId34"/>
    <p:sldId id="279" r:id="rId25"/>
    <p:sldId id="282" r:id="rId33"/>
    <p:sldId id="280" r:id="rId26"/>
    <p:sldId id="281" r:id="rId27"/>
  </p:sldIdLst>
  <p:notesMasterIdLst>
    <p:notesMasterId r:id="rId2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A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052560" y="1188720"/>
            <a:ext cx="4480560" cy="4480560"/>
          </a:xfrm>
          <a:prstGeom prst="ellipse">
            <a:avLst/>
          </a:prstGeom>
          <a:solidFill>
            <a:srgbClr val="00838F">
              <a:alpha val="14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058400" y="2743200"/>
            <a:ext cx="2468880" cy="2468880"/>
          </a:xfrm>
          <a:prstGeom prst="ellipse">
            <a:avLst/>
          </a:prstGeom>
          <a:solidFill>
            <a:srgbClr val="00838F">
              <a:alpha val="22000"/>
            </a:srgbClr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10835640" y="3611880"/>
            <a:ext cx="1143000" cy="1143000"/>
          </a:xfrm>
          <a:prstGeom prst="ellipse">
            <a:avLst/>
          </a:prstGeom>
          <a:solidFill>
            <a:srgbClr val="00838F">
              <a:alpha val="42000"/>
            </a:srgbClr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66928" y="1078992"/>
            <a:ext cx="5532120" cy="420624"/>
          </a:xfrm>
          <a:prstGeom prst="roundRect">
            <a:avLst>
              <a:gd name="adj" fmla="val 50000"/>
            </a:avLst>
          </a:prstGeom>
          <a:solidFill>
            <a:srgbClr val="00838F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66928" y="1078992"/>
            <a:ext cx="5532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1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PATHOLOGY RESIDENCY LECTURE SERIES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66928" y="181051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·  LECTURE 1 OF 5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66928" y="2286000"/>
            <a:ext cx="8595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Methods for Residents</a:t>
            </a:r>
            <a:endParaRPr lang="en-US" sz="4600" dirty="0"/>
          </a:p>
        </p:txBody>
      </p:sp>
      <p:sp>
        <p:nvSpPr>
          <p:cNvPr id="9" name="Text 7"/>
          <p:cNvSpPr/>
          <p:nvPr/>
        </p:nvSpPr>
        <p:spPr>
          <a:xfrm>
            <a:off x="566928" y="3840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BFD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PCR, Real-Time/Digital PCR, Sequencing &amp; Hybridization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566928" y="507492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Tamima El-Jisr</a:t>
            </a:r>
            <a:endParaRPr lang="en-US" sz="15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9D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Chairperson, Department of Laboratory Medicine</a:t>
            </a:r>
            <a:endParaRPr lang="en-US" sz="15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9D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Hospital, Beirut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899855" y="59893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DA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Pathology Residency Curriculum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FRAMING 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566928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PCR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713232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Amplifies a target sequence exponentially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344314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344314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qPCR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490618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Quantifies in real time via cycle threshold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121701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121701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NGS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8268005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Massively parallel sequencing reads millions of fragments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429000"/>
            <a:ext cx="11057839" cy="1371600"/>
          </a:xfrm>
          <a:prstGeom prst="roundRect">
            <a:avLst>
              <a:gd name="adj" fmla="val 6000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41248" y="3611880"/>
            <a:ext cx="105091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diagnostics rests on a handful of core methods. Knowing what each technique measures — and its limits — lets you choose the right test and interpret it correctly.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566928" y="5029200"/>
            <a:ext cx="1105783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method to the question: known target vs discovery, qualitative vs quantitative, single locus vs genome-wide.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·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68096" y="1969008"/>
            <a:ext cx="420624" cy="420624"/>
          </a:xfrm>
          <a:prstGeom prst="ellipse">
            <a:avLst/>
          </a:prstGeom>
          <a:solidFill>
            <a:srgbClr val="00838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68096" y="1969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353312" y="1481328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conventional PCR and its components.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278728" y="1481328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6479896" y="1969008"/>
            <a:ext cx="420624" cy="420624"/>
          </a:xfrm>
          <a:prstGeom prst="ellipse">
            <a:avLst/>
          </a:prstGeom>
          <a:solidFill>
            <a:srgbClr val="00838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479896" y="1969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065112" y="1481328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real-time (quantitative) and digital PCR.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3151632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768096" y="3639312"/>
            <a:ext cx="420624" cy="420624"/>
          </a:xfrm>
          <a:prstGeom prst="ellipse">
            <a:avLst/>
          </a:prstGeom>
          <a:solidFill>
            <a:srgbClr val="00838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68096" y="36393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353312" y="3151632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Contrast Sanger and next-generation sequencing.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278728" y="3151632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6479896" y="3639312"/>
            <a:ext cx="420624" cy="420624"/>
          </a:xfrm>
          <a:prstGeom prst="ellipse">
            <a:avLst/>
          </a:prstGeom>
          <a:solidFill>
            <a:srgbClr val="00838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6479896" y="36393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065112" y="3151632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hybridization methods (FISH, arrays) at a high level.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66928" y="4821936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768096" y="5309616"/>
            <a:ext cx="420624" cy="420624"/>
          </a:xfrm>
          <a:prstGeom prst="ellipse">
            <a:avLst/>
          </a:prstGeom>
          <a:solidFill>
            <a:srgbClr val="00838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768096" y="53096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353312" y="4821936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Recognize contamination and pre-analytic pitfalls in molecular testing.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6278728" y="4821936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6479896" y="5309616"/>
            <a:ext cx="420624" cy="420624"/>
          </a:xfrm>
          <a:prstGeom prst="ellipse">
            <a:avLst/>
          </a:prstGeom>
          <a:solidFill>
            <a:srgbClr val="00838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6479896" y="53096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065112" y="4821936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the appropriate method for a clinical question.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WHAT WE WILL COVER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49808" y="1682496"/>
            <a:ext cx="384048" cy="384048"/>
          </a:xfrm>
          <a:prstGeom prst="ellipse">
            <a:avLst/>
          </a:prstGeom>
          <a:solidFill>
            <a:srgbClr val="00838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49808" y="16824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98448" y="1481328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PCR fundamentals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amplification and components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432304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749808" y="2633472"/>
            <a:ext cx="384048" cy="384048"/>
          </a:xfrm>
          <a:prstGeom prst="ellipse">
            <a:avLst/>
          </a:prstGeom>
          <a:solidFill>
            <a:srgbClr val="00838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749808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98448" y="2432304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&amp; digital PCR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quantitation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3383280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749808" y="3584448"/>
            <a:ext cx="384048" cy="384048"/>
          </a:xfrm>
          <a:prstGeom prst="ellipse">
            <a:avLst/>
          </a:prstGeom>
          <a:solidFill>
            <a:srgbClr val="00838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49808" y="3584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98448" y="3383280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Sequencing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Sanger vs NGS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66928" y="4334256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749808" y="4535424"/>
            <a:ext cx="384048" cy="384048"/>
          </a:xfrm>
          <a:prstGeom prst="ellipse">
            <a:avLst/>
          </a:prstGeom>
          <a:solidFill>
            <a:srgbClr val="00838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749808" y="45354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298448" y="4334256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Hybridization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FISH, arrays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66928" y="5285232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749808" y="5486400"/>
            <a:ext cx="384048" cy="384048"/>
          </a:xfrm>
          <a:prstGeom prst="ellipse">
            <a:avLst/>
          </a:prstGeom>
          <a:solidFill>
            <a:srgbClr val="00838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749808" y="5486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298448" y="5285232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Cases &amp; board review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5A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E0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ONE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PCR &amp; Quantitation</a:t>
            </a:r>
            <a:endParaRPr lang="en-US" sz="3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PCR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Polymerase Chain Reaction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066648" y="1481328"/>
            <a:ext cx="10058400" cy="4187952"/>
          </a:xfrm>
          <a:prstGeom prst="roundRect">
            <a:avLst>
              <a:gd name="adj" fmla="val 1965"/>
            </a:avLst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5" name="Image 0" descr="/tmp/cp_work2/art/mol_pc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4664" y="1609344"/>
            <a:ext cx="9802368" cy="3931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742432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schematic. Denature–anneal–extend cycling amplifies a defined target exponentially.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PCR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Components &amp; Cycling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PCR NEEDS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Template, primers, dNTPs, thermostable polymerase, and buffer with magnesium.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steps per cycle: denaturation, annealing, extension.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Primer design and specificity determine performance.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Reverse transcription (RT-PCR) converts RNA to cDNA first.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DDF0E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STRENGTHS &amp; LIMITS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Exquisitely sensitive — which makes contamination control critical.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Detects known targets, not unknown sequences.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Inhibitors (heparin, hemoglobin) can cause false negatives.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controls to detect inhibition and contamination.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QUANTITATION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and Digital PCR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(QPCR)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Fluorescence is measured each cycle; the cycle threshold (Ct) reflects starting target amount.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Ct → more starting template.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Enables relative or absolute quantitation against standards.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Melt-curve analysis checks amplicon specificity.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DDF0E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PCR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Partitions the sample into thousands of reactions for absolute quantitation without a standard curve.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Excellent for low-level targets and small fold-changes.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Useful for minimal residual disease and rare variants.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tolerant of some inhibitors.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5A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E0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TWO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Sequencing &amp; Hybridization</a:t>
            </a:r>
            <a:endParaRPr lang="en-US" sz="3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SEQUENCING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Sanger vs Next-Generation Sequencing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75208" y="1481328"/>
            <a:ext cx="10241280" cy="4261104"/>
          </a:xfrm>
          <a:prstGeom prst="roundRect">
            <a:avLst>
              <a:gd name="adj" fmla="val 1931"/>
            </a:avLst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5" name="Image 0" descr="/tmp/cp_work2/art/mol_ng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3224" y="1609344"/>
            <a:ext cx="9985248" cy="400507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815584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schematic. Sanger reads one amplicon at high confidence; NGS reads millions of fragments in parallel.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SEQUENCING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Choosing a Sequencing Approach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SANGER SEQUENCING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 standard for single amplicons; ~15–20% limit of detection for variants.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Simple, fast for one target.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Often used to confirm NGS findings.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suited to many targets or low-level variants.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DDF0E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NEXT-GENERATION SEQUENCING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Massively parallel; panels, exomes, or genomes; detects low variant allele fractions.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Depth of coverage governs sensitivity.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Generates large bioinformatic output (alignment, variant calling).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Ideal for multi-gene panels and discovery.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HYBRIDIZATION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FISH &amp; Microarrays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FISH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Fluorescent probes detect specific fusions, deletions, or amplifications in situ.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on interphase or metaphase cells.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Targeted — you must know what to look for.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 for known rearrangements (e.g., fusions).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DDF0E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MICROARRAYS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Genome-wide copy-number and (with SNPs) loss of heterozygosity.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Detects microdeletions/duplications beyond karyotype resolution.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Cannot detect balanced rearrangements.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Complements sequencing and FISH.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05A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E0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THREE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Pitfalls, Cases &amp; Board</a:t>
            </a:r>
            <a:endParaRPr lang="en-US" sz="3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PITFALLS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Contamination &amp; Pre-Analytics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CONTAMINATION CONTROL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Amplicon carryover and cross-contamination cause false positives — separate pre/post-PCR areas.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unidirectional workflow and controls.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No-template controls detect contamination.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dUTP/UNG systems reduce carryover.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DDF0E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PRE-ANALYTIC INTEGRITY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Nucleic acid quality depends on specimen type, fixation, and storage.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FFPE degrades and chemically damages DNA.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Heparin inhibits PCR; use appropriate tubes.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RNA is labile — handle and store carefully.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CASE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1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2788920"/>
          </a:xfrm>
          <a:prstGeom prst="roundRect">
            <a:avLst>
              <a:gd name="adj" fmla="val 2951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41248" y="170078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VIGNETTE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41248" y="2029968"/>
            <a:ext cx="1050919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qualitative PCR for a viral target is negative, but clinical suspicion is high and the internal control failed to amplify.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4553712"/>
            <a:ext cx="11057839" cy="1325880"/>
          </a:xfrm>
          <a:prstGeom prst="roundRect">
            <a:avLst>
              <a:gd name="adj" fmla="val 6207"/>
            </a:avLst>
          </a:prstGeom>
          <a:solidFill>
            <a:srgbClr val="0E3A5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22960" y="4681728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618488" y="4553712"/>
            <a:ext cx="968623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you interpret this result?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CASE 1  ·  RESOLUTION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1: PCR Inhibition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6413547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failed internal control indicates inhibition — the negative result is uninterpretable, not truly negative.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Inhibitors (heparin, hemoglobin) or poor extraction may be responsible.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 after dilution or re-extraction.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report a 'negative' when controls fail.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422788" y="1554480"/>
            <a:ext cx="4201979" cy="3977640"/>
          </a:xfrm>
          <a:prstGeom prst="roundRect">
            <a:avLst>
              <a:gd name="adj" fmla="val 2069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660532" y="1755648"/>
            <a:ext cx="37447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POINT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60532" y="2121408"/>
            <a:ext cx="372649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check amplification controls — a negative target with a failed control means inhibition, not absence of the target.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CASE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2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2788920"/>
          </a:xfrm>
          <a:prstGeom prst="roundRect">
            <a:avLst>
              <a:gd name="adj" fmla="val 2951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41248" y="170078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VIGNETTE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41248" y="2029968"/>
            <a:ext cx="1050919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low-level variant suspected at ~5% allele fraction is not seen on Sanger sequencing.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4553712"/>
            <a:ext cx="11057839" cy="1325880"/>
          </a:xfrm>
          <a:prstGeom prst="roundRect">
            <a:avLst>
              <a:gd name="adj" fmla="val 6207"/>
            </a:avLst>
          </a:prstGeom>
          <a:solidFill>
            <a:srgbClr val="0E3A5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22960" y="4681728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618488" y="4553712"/>
            <a:ext cx="968623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Why, and what method would detect it?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CASE 2  ·  RESOLUTION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2: Limit of Detection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6413547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Sanger’s detection limit (~15–20%) is above a 5% variant, so it can miss low-level variants.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NGS with adequate depth or digital PCR detects low allele fractions.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the method by the expected variant level.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critical low-level calls appropriately.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422788" y="1554480"/>
            <a:ext cx="4201979" cy="3977640"/>
          </a:xfrm>
          <a:prstGeom prst="roundRect">
            <a:avLst>
              <a:gd name="adj" fmla="val 2069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660532" y="1755648"/>
            <a:ext cx="37447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POINT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60532" y="2121408"/>
            <a:ext cx="372649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method sensitivity to the question — Sanger misses low-fraction variants that NGS or digital PCR can detect.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CASE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3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2788920"/>
          </a:xfrm>
          <a:prstGeom prst="roundRect">
            <a:avLst>
              <a:gd name="adj" fmla="val 2951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41248" y="170078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VIGNETTE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41248" y="2029968"/>
            <a:ext cx="1050919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run shows amplification in the no-template control.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4553712"/>
            <a:ext cx="11057839" cy="1325880"/>
          </a:xfrm>
          <a:prstGeom prst="roundRect">
            <a:avLst>
              <a:gd name="adj" fmla="val 6207"/>
            </a:avLst>
          </a:prstGeom>
          <a:solidFill>
            <a:srgbClr val="0E3A5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22960" y="4681728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618488" y="4553712"/>
            <a:ext cx="968623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this indicate and what must be done?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CASE 3  ·  RESOLUTION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3: Contaminated Run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6413547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Amplification in the no-template control indicates contamination — results from that run are invalid.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Investigate and remediate (workflow separation, reagents, surfaces).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 testing after decontamination.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the corrective action.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422788" y="1554480"/>
            <a:ext cx="4201979" cy="3977640"/>
          </a:xfrm>
          <a:prstGeom prst="roundRect">
            <a:avLst>
              <a:gd name="adj" fmla="val 2069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660532" y="1755648"/>
            <a:ext cx="37447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POINT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60532" y="2121408"/>
            <a:ext cx="372649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positive no-template control invalidates the run; molecular labs depend on rigorous contamination control and unidirectional workflow.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BOARD REVIEW  ·  Q1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qPCR, a lower cycle threshold (Ct) indicates: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Less starting template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More starting template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Contamination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Inhibition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A failed run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BOARD REVIEW  ·  Q2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method provides absolute quantitation without a standard curve?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Conventional PCR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Sanger sequencing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Digital PCR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FISH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Microarray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BOARD REVIEW  ·  Q3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balanced (reciprocal) translocation is NOT detectable by: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Karyotype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FISH (break-apart probe)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Chromosomal microarray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RT-PCR for the fusion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Metaphase analysis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BOARD REVIEW  ·  Q4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main reason to separate pre- and post-PCR work areas is to: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Improve sensitivity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Prevent amplicon carryover contamination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Speed up cycling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Reduce reagent cost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Increase Ct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A2A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0972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Take-Home Points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49808" y="1755648"/>
            <a:ext cx="365760" cy="365760"/>
          </a:xfrm>
          <a:prstGeom prst="ellipse">
            <a:avLst/>
          </a:prstGeom>
          <a:solidFill>
            <a:srgbClr val="00838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49808" y="1755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80160" y="1517904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PCR amplifies a known target exponentially — highly sensitive, so contamination control is essential.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66928" y="2505456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749808" y="2743200"/>
            <a:ext cx="365760" cy="365760"/>
          </a:xfrm>
          <a:prstGeom prst="ellipse">
            <a:avLst/>
          </a:prstGeom>
          <a:solidFill>
            <a:srgbClr val="00838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749808" y="2743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80160" y="2505456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qPCR quantifies via Ct (lower Ct = more template); digital PCR gives absolute counts and detects rare targets.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3493008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749808" y="3730752"/>
            <a:ext cx="365760" cy="365760"/>
          </a:xfrm>
          <a:prstGeom prst="ellipse">
            <a:avLst/>
          </a:prstGeom>
          <a:solidFill>
            <a:srgbClr val="00838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49808" y="37307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80160" y="3493008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Sanger is the single-amplicon gold standard (~15–20% LoD); NGS reads millions of fragments and detects low allele fractions.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66928" y="4480560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749808" y="4718304"/>
            <a:ext cx="365760" cy="365760"/>
          </a:xfrm>
          <a:prstGeom prst="ellipse">
            <a:avLst/>
          </a:prstGeom>
          <a:solidFill>
            <a:srgbClr val="00838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749808" y="47183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280160" y="4480560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FISH targets known rearrangements; microarrays give genome-wide copy number but miss balanced rearrangements.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66928" y="5468112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749808" y="5705856"/>
            <a:ext cx="365760" cy="365760"/>
          </a:xfrm>
          <a:prstGeom prst="ellipse">
            <a:avLst/>
          </a:prstGeom>
          <a:solidFill>
            <a:srgbClr val="00838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749808" y="57058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280160" y="5468112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interpret controls: failed internal control = inhibition; positive no-template control = contamination.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11002975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8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REFERENCES &amp; FURTHER READING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481328"/>
            <a:ext cx="11057839" cy="4828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 Buckingham L. Molecular Diagnostics, 3rd ed. F.A. Davis.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 Coleman WB, Tsongalis GJ. Molecular Diagnostics for the Clinical Laboratorian.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 CLSI MM01/MM09 (molecular methods).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 Leonard DGB. Molecular Pathology in Clinical Practice, 2nd ed.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8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BOARD REVIEW  ·  Q4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main reason to separate pre- and post-PCR work areas is to: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Improve sensitivity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00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Prevent amplicon carryover contamination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Speed up cycling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Reduce reagent cost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Increase Ct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Prevent amplicon carryover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Post-PCR amplicons are a major contamination source; unidirectional workflow prevents false positives.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8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BOARD REVIEW  ·  Q3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balanced (reciprocal) translocation is NOT detectable by: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Karyotype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FISH (break-apart probe)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00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Chromosomal microarray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RT-PCR for the fusion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Metaphase analysis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— Chromosomal microarray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Arrays detect copy-number change; a balanced translocation has no net copy-number change and is missed.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8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BOARD REVIEW  ·  Q2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method provides absolute quantitation without a standard curve?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Conventional PCR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Sanger sequencing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00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Digital PCR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FISH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Microarray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— Digital PCR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PCR partitions the reaction to count targets directly, giving absolute quantitation without a standard curve.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8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BOARD REVIEW  ·  Q1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qPCR, a lower cycle threshold (Ct) indicates: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Less starting template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00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More starting template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Contamination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Inhibition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A failed run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More starting template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 is inversely related to the amount of starting target; lower Ct means more template.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Molecular Methods for Residents</dc:title>
  <dc:subject>PptxGenJS Presentation</dc:subject>
  <dc:creator>Makassed General Hospital — Department of Laboratory Medicine</dc:creator>
  <cp:lastModifiedBy>Makassed General Hospital — Department of Laboratory Medicine</cp:lastModifiedBy>
  <cp:revision>1</cp:revision>
  <dcterms:created xsi:type="dcterms:W3CDTF">2026-06-28T07:09:05Z</dcterms:created>
  <dcterms:modified xsi:type="dcterms:W3CDTF">2026-06-28T07:09:05Z</dcterms:modified>
</cp:coreProperties>
</file>