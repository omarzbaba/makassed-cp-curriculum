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C62133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C621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C62133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C6213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·  LECTURE 1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&amp; Peripheral Smear Interpretation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Automated Count to the Glass Slide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fork whenever a red-cell count is abnormal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flags signal when the automated differential needs human eyes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Smear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slide when counts, flags, or the patient don’t agree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CBC is the most-ordered test in the laboratory. Reading it well means knowing what the analyzer measures, when to distrust it, and when the glass slide changes the diagnosis — sometimes within minutes.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critical morphology — blasts, schistocytes, or malaria — can change management before the rest of the workup returns.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CBC indices (MCV, MCH, MCHC, RDW) and analyzer flags.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spurious results and their preanalytic causes.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triggers for which a manual smear review changes management.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high-yield red-cell morphologies and their associations.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white-cell and platelet morphologies that alter the diagnosis.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urgent morphologic findings and critical values.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CBC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what the analyzer measures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analyzer can’t be trusted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spurious results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systematic smear review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 reproducible routine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that changes management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red cells, white cells, platelets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CBC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THE AUTOMATED CBC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Red-Cell Indices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&amp; HEMOGLOBINIZATION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 — average red-cell size; the first branch point (micro &lt;80, normo 80–100, macro &gt;100 fL).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MCH/MCHC — hemoglobin content; MCHC &gt;36 g/dL is a red flag for spherocytes, cold agglutinins, or lipemia.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RDW — anisocytosis; high RDW favors iron deficiency over thalassemia trait.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Hyperchromia is essentially an artifact — cells cannot be over-filled.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RELATED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Reticulocyte count / IRF reflects the marrow’s response.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Nucleated RBCs may be miscounted as WBCs — correct the WBC.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Hb/Hct relationship (rule of three) cross-checks plausibility.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vs optical methods affect platelet and RBC counts.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THE AUTOMATED CBC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Cells and Platelets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DIFFERENTIAL &amp; FLAGS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5-part differential classifies normal cells well — not abnormal ones.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('blasts?', 'immature granulocytes', 'atypical lymphocytes') mean the analyzer couldn’t classify a population.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is an instruction to review the smear, not a diagnosis.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absolute counts, not just percentages.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by impedance/optical methods; MPV reflects size.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can miscount: fragments read as platelets; giant platelets missed.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Clump/giant-platelet flags should trigger a smear.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count doesn’t fit the patient, estimate from the slide.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SPURIOUS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Analyzer Can’t Be Trusted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81628"/>
                <a:gridCol w="388162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Spurious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Clue /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platelets (pseudo)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EDTA-dependent platelet clumping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Clumps on smear; recollect in citrate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MCV, low RBC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agglutinins (red-cell doublets)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MCHC &gt;36, clumps; warm to 37°C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NRBCs / platelet clumps counted as WBC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WBC for NRBC; review smear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platelets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Platelet satellitism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Citrate tube; confirm on smear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hemoglobin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Lipemia, icterus, very high WBC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blank / dilution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Normal-appearing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Giant platelets not counted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Smear estimate; optical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when a value doesn’t fit the patient, suspect a preanalytic or analyzer artifact — and pull the smear.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Peripheral Smear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A REPRODUCIBLE ROUTINE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Smear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490140" cy="1188720"/>
          </a:xfrm>
          <a:prstGeom prst="roundRect">
            <a:avLst>
              <a:gd name="adj" fmla="val 5385"/>
            </a:avLst>
          </a:prstGeom>
          <a:solidFill>
            <a:srgbClr val="C62133"/>
          </a:solidFill>
          <a:ln w="15875">
            <a:solidFill>
              <a:srgbClr val="C62133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28800"/>
            <a:ext cx="238041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Low power (10×)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distribution, rouleaux, clumps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75356" y="2423160"/>
            <a:ext cx="329184" cy="0"/>
          </a:xfrm>
          <a:prstGeom prst="line">
            <a:avLst/>
          </a:prstGeom>
          <a:noFill/>
          <a:ln w="22225">
            <a:solidFill>
              <a:srgbClr val="C621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22828" y="1828800"/>
            <a:ext cx="24901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7692" y="1828800"/>
            <a:ext cx="238041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Red cells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color, shape, inclusions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31256" y="2423160"/>
            <a:ext cx="329184" cy="0"/>
          </a:xfrm>
          <a:prstGeom prst="line">
            <a:avLst/>
          </a:prstGeom>
          <a:noFill/>
          <a:ln w="22225">
            <a:solidFill>
              <a:srgbClr val="C6213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78728" y="1828800"/>
            <a:ext cx="24901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33592" y="1828800"/>
            <a:ext cx="238041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White cells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estimate, differential, blasts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87155" y="2423160"/>
            <a:ext cx="329184" cy="0"/>
          </a:xfrm>
          <a:prstGeom prst="line">
            <a:avLst/>
          </a:prstGeom>
          <a:noFill/>
          <a:ln w="22225">
            <a:solidFill>
              <a:srgbClr val="C621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34627" y="1828800"/>
            <a:ext cx="24901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491" y="1828800"/>
            <a:ext cx="2380412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Platelets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estimate, clumps, giant forms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24612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246120"/>
            <a:ext cx="10509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platelets: average per oil-immersion field × ≈15–20 ≈ count (×10⁹/L). Read in the monolayer just behind the feathered edge.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THE SMEAR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Pull a Smear — and What It Adds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FOR MANUAL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analyzer flag for blasts, immature granulocytes, or atypical lymphocytes.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New/unexplained cytopenia or an extreme count.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indices (high MCV, MCHC &gt;36, very high RDW).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Discrepant or critical values; clinical request (? hemolysis, ? leukemia, ? malaria).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ONLY THE SLIDE SHOWS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Blasts and Auer rods; dysplasia.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Schistocytes → microangiopathy.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Spherocytes; sickle cells; bite cells.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 / Babesia parasites; toxic change; smudge cells.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MORPHOLOGY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Red-Cell Morphology That Changes the Diagnosis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288536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heme_mor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4032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4301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Each morphology points to a differential — schistocytes and blasts are phone-the-clinician findings.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MORPHOLOGY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White-Cell &amp; Platelet Morphology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8309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 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1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Blasts ± Auer rods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Acute leukemia (Auer rods → myeloid; consider APL emergency)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Hypersegmented neutrophils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Megaloblastic anemia (B12 / folate)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 granulation, Döhle bodies, vacuoles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 / sepsis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Smudge cells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lymphocytic leukemia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shift (bands, metamyelocytes)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 / infectious leukocytosis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Hypogranular / pseudo-Pelger neutrophils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Myelodysplastic syndrome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Platelet clumps / giant platelets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Pseudothrombocytopenia; ITP or inherited macrothrombocytopenia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B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CBC on a well 30-year-old pre-operative patient reports a platelet count of 28 × 10⁹/L with a platelet-clump flag. She has no bruising or bleeding.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explanation, and the single confirming step before a critical value is called?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Pseudothrombocytopenia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EDTA-dependent platelet clumping — an in-vitro artifact, not true thrombocytopenia.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smear: clumps confirm the artifact.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Recollect in sodium citrate (multiply by the dilution factor).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report a spurious critical value or transfuse.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an unexpected critical platelet count with the smear before acting; the well patient is a strong clue.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41-year-old woman has confusion, Hb 8.1 g/dL, platelets 22 × 10⁹/L; the smear shows numerous schistocytes and polychromasia; LDH is markedly elevated.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smear tell you, and why is this an emergency?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Microangiopathic Hemolytic Anemia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Schistocytes + thrombocytopenia + hemolysis = MAHA.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neurologic change, think TTP — a medical emergency.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the team immediately; don’t wait for the full workup.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ADAMTS13, exclude DIC (coagulation panel), urgent hematology.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Schistocytes are a 'phone-the-clinician' finding; morphology drives action hours before confirmatory assays return.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elderly patient’s CBC reports MCV 128 fL, RBC 2.1 × 10¹²/L, and MCHC 39 g/dL; the smear shows red-cell doublets and clumping.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artifact explains these indices, and how do you correct it?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Cold Agglutinins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agglutinins clump red cells as doublets, so the analyzer counts fewer, larger 'cells'.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spuriously low RBC, high MCV, and an impossible MCHC (&gt;36).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MCHC &gt;36 g/dL is the giveaway — check for cold agglutinins, spherocytes, or lipemia.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warm the sample to 37°C and re-run.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MCHC above ~36 g/dL is almost always an artifact — investigate before reporting.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asymptomatic patient has an automated platelet count of 30 × 10⁹/L with a clump flag. The best next step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Transfuse platelets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Report the critical value and call the clinician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Review the smear and recollect in sodium citrate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Repeat in the same EDTA tube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Start steroids for ITP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Review smear, recollect in citrate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Clumping in a well patient indicates EDTA-dependent pseudothrombocytopenia; confirm on smear and recollect in citrate before reporting or treating.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Schistocytes with thrombocytopenia and high LDH most urgently require: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Routine follow-up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Urgent clinical notification (possible TMA/TTP)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Iron studies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Reassurance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Vitamin B12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Urgent notification (possible TTP)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Microangiopathic hemolysis with thrombocytopenia suggests TTP/HUS/DIC — emergencies requiring immediate communication.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 130 fL with MCHC 40 g/dL and red-cell clumping is best explained by: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B12 deficiency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Hereditary spherocytosis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Cold agglutinins (spurious indices)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Iron deficiency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Sideroblastic anemia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BEAEC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Cold agglutinins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MCHC &gt;36 with clumping indicates agglutination; cold agglutinins falsely lower RBC and raise MCV/MCHC. Warm to 37°C and re-run.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 is the first branch point; RDW and MCHC quickly flag iron deficiency and artifacts.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flags are instructions to read the smear — not diagnoses.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MCHC &gt;36 g/dL is almost always an artifact (cold agglutinin, spherocytes, lipemia).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smear whenever counts, flags, or the patient disagree; recollect in citrate for clumping.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C62133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Schistocytes, blasts, and parasites are phone-the-clinician findings — act before confirmatory tests return.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HEMATOLOGY &amp; COAGULATION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Bain BJ. Blood Cells: A Practical Guide, 6th ed. Wiley-Blackwell, 2021.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Bain BJ. Diagnosis from the Blood Smear. N Engl J Med. 2005;353:498–507.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CLSI H20: Reference Leukocyte Differential Count.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Keohane EM, et al. Rodak’s Hematology, 6th ed. Elsevier, 2020.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C62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CBC &amp; Peripheral Smear Interpretation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2026-06-28T06:02:13Z</dcterms:created>
  <dcterms:modified xsi:type="dcterms:W3CDTF">2026-06-28T06:02:13Z</dcterms:modified>
</cp:coreProperties>
</file>