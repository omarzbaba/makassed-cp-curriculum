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4" r:id="rId35"/>
    <p:sldId id="276" r:id="rId22"/>
    <p:sldId id="283" r:id="rId34"/>
    <p:sldId id="277" r:id="rId23"/>
    <p:sldId id="282" r:id="rId33"/>
    <p:sldId id="278" r:id="rId24"/>
    <p:sldId id="281" r:id="rId32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188720"/>
            <a:ext cx="4480560" cy="4480560"/>
          </a:xfrm>
          <a:prstGeom prst="ellipse">
            <a:avLst/>
          </a:prstGeom>
          <a:solidFill>
            <a:srgbClr val="00838F">
              <a:alpha val="14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058400" y="2743200"/>
            <a:ext cx="2468880" cy="2468880"/>
          </a:xfrm>
          <a:prstGeom prst="ellipse">
            <a:avLst/>
          </a:prstGeom>
          <a:solidFill>
            <a:srgbClr val="00838F">
              <a:alpha val="22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835640" y="3611880"/>
            <a:ext cx="1143000" cy="1143000"/>
          </a:xfrm>
          <a:prstGeom prst="ellipse">
            <a:avLst/>
          </a:prstGeom>
          <a:solidFill>
            <a:srgbClr val="00838F">
              <a:alpha val="42000"/>
            </a:srgbClr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66928" y="1078992"/>
            <a:ext cx="5532120" cy="420624"/>
          </a:xfrm>
          <a:prstGeom prst="roundRect">
            <a:avLst>
              <a:gd name="adj" fmla="val 50000"/>
            </a:avLst>
          </a:prstGeom>
          <a:solidFill>
            <a:srgbClr val="00838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66928" y="1078992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LECTURE SERIES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8105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·  LECTURE 5 OF 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286000"/>
            <a:ext cx="8595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QC &amp; Bioinformatics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66928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BF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a Molecular Assay Online — and Keeping It Reliable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66928" y="50749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Tamima El-Jisr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Chairperson, Department of Laboratory Medicine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Hospital, Beirut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99855" y="5989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D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Curriculum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FRAMING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66928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13232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performance before clinical use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4314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344314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 + dry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490618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bioinformatics pipeline is part of the test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21701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121701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268005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monitoring sustains quality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429000"/>
            <a:ext cx="11057839" cy="1371600"/>
          </a:xfrm>
          <a:prstGeom prst="roundRect">
            <a:avLst>
              <a:gd name="adj" fmla="val 6000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1248" y="3611880"/>
            <a:ext cx="105091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molecular result is only as trustworthy as the validation and quality systems behind it. For NGS, that means validating both the wet-bench process and the bioinformatics pipeline, then monitoring both over time.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66928" y="5029200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NGS the pipeline is part of the assay — validate and version-control the software as rigorously as the wet bench.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·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68096" y="1969008"/>
            <a:ext cx="420624" cy="420624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533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analytic validation parameters for molecular assays.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87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479896" y="1969008"/>
            <a:ext cx="420624" cy="420624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798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651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validation (LDT) from verification (FDA-cleared).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68096" y="3639312"/>
            <a:ext cx="420624" cy="420624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680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533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NGS-specific validation (depth, LoD, regions).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787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79896" y="3639312"/>
            <a:ext cx="420624" cy="420624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798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651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bioinformatics pipeline validation and version control.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68096" y="5309616"/>
            <a:ext cx="420624" cy="420624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680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533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ongoing QC and proficiency testing.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787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479896" y="5309616"/>
            <a:ext cx="420624" cy="420624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798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651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sources of error across the workflow.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WHAT WE WILL COVER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9808" y="1682496"/>
            <a:ext cx="384048" cy="384048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1481328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parameters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accuracy, precision, LoD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432304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49808" y="2633472"/>
            <a:ext cx="384048" cy="384048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49808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98448" y="2432304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vs verification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LDT vs FDA-cleared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3383280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49808" y="3584448"/>
            <a:ext cx="384048" cy="384048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98448" y="3383280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 pipeline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wet and dry bench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4334256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49808" y="4535424"/>
            <a:ext cx="384048" cy="384048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49808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98448" y="4334256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QC &amp; PT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sustaining quality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5285232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49808" y="5486400"/>
            <a:ext cx="384048" cy="384048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49808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98448" y="5285232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5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0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Fundamentals</a:t>
            </a:r>
            <a:endParaRPr lang="en-US" sz="3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NGS Pipeline: Wet Bench to Report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2328" y="1481328"/>
            <a:ext cx="10607040" cy="4178808"/>
          </a:xfrm>
          <a:prstGeom prst="roundRect">
            <a:avLst>
              <a:gd name="adj" fmla="val 1969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5" name="Image 0" descr="/tmp/cp_work2/art/mol_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344" y="1609344"/>
            <a:ext cx="10351008" cy="3922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73328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schematic. Validation must cover both the wet-bench process and the (version-locked) bioinformatics pipeline.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Characteristics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PARAMETERS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 (repeatability/reproducibility), analytic sensitivity and specificity.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of detection (e.g., lowest variant allele fraction).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Reportable range and reference range as applicable.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before clinical use.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DDF0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VS VERIFICATION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Laboratory-developed tests require full validation; FDA-cleared assays require verification of claims.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modification of an FDA-cleared assay triggers validation.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intended use and specimen types.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validation documentation for inspection.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SEQUENCING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 Scale and Coverage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66648" y="1481328"/>
            <a:ext cx="10058400" cy="4187952"/>
          </a:xfrm>
          <a:prstGeom prst="roundRect">
            <a:avLst>
              <a:gd name="adj" fmla="val 1965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5" name="Image 0" descr="/tmp/cp_work2/art/mol_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4664" y="1609344"/>
            <a:ext cx="9802368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74243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schematic. Depth of coverage drives variant-detection sensitivity; define minimum coverage in validation.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5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0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 Validation, Bioinformatics &amp; QC</a:t>
            </a:r>
            <a:endParaRPr lang="en-US" sz="3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NGS 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NGS Validation Must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 SCOPE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variant types detected (SNVs, indels, CNVs, fusions) and the limits for each.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minimum depth and coverage uniformity.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Characterize difficult regions (homopolymers, GC-rich).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limit of detection per variant type.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DDF0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MATERIALS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well-characterized reference samples and orthogonal confirmation.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known positives across the reportable range.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reproducibility across runs/operators.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representative regions and gaps.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BIOINFORMATICS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the Dry Bench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AS PART OF THE TEST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Alignment, variant calling, annotation, and filtering all affect results — validate them together.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 software and databases.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Revalidate after significant pipeline changes.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and document the production pipeline.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DDF0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DATABASES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Annotation/classification depend on curated, versioned databases.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database versions used for each report.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Reanalysis policies for reclassified variants.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against silent reference changes.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ONGOING QC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Sustaining Quality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AND BATCH QC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run metrics (coverage, quality scores, contamination indicators).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in each run; defined acceptance criteria.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trends to catch drift.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document failures.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DDF0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PROFICIENCY TESTING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 in PT or use alternative assessment where PT is unavailable.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performance against peers.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failures as improvement triggers.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competency and documentation.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5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0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endParaRPr lang="en-US" sz="3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CASE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laboratory wants to offer a new NGS panel it designed in-house.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required before clinical use, and what is special about NGS?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CASE 1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Validating an LDT Panel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laboratory-developed test requires full validation of all performance characteristics before clinical use.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NGS, this includes the bioinformatics pipeline, not just the wet bench.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variant types, depth, and limit of detection.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thoroughly for accreditation.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 in-house NGS panel, validate both the wet-bench process and the bioinformatics pipeline — the software is part of the assay.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CASE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upgrades the variant-calling software to a new version.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happen before reporting clinical results with it?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CASE 2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Pipeline Change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significant bioinformatics change requires revalidation to confirm equivalent or better performance.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against the prior validated pipeline and reference samples.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version control and the change.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silently deploy software changes.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pipeline updates like assay changes — revalidate and document before clinical reporting.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CASE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clinically important region of a gene falls in a low-coverage area below the validated minimum depth.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this be handled and reported?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CASE 3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3: Coverage Gap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below the validated minimum depth cannot be reliably called and should be flagged.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orthogonal methods (e.g., Sanger fill-in) for critical regions.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limitations transparently.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requirements come from validation.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only what coverage supports — flag low-coverage regions and fill critical gaps with an orthogonal method.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BOARD REVIEW  ·  Q1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laboratory-developed molecular test requires which before clinical use?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Verification of manufacturer claims only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Full validation of performance characteristics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No study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Reference interval only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PT enrollment only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BOARD REVIEW  ·  Q2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 NGS assay, the bioinformatics pipeline should be: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Ignored in validation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Validated and version-controlled as part of the test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Changed freely without documentation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Validated only once regardless of changes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Outsourced without oversight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BOARD REVIEW  ·  Q3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limit of detection for an NGS variant assay primarily depends on: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Ambient temperature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Depth of coverage and assay design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The patient’s age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Tube color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Renal function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BOARD REVIEW  ·  Q4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major variant-caller software upgrade, the laboratory should: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Report immediately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Revalidate and document before clinical reporting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Use it only for research forever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Avoid documentation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Lower the coverage threshold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Take-Home 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9808" y="1755648"/>
            <a:ext cx="365760" cy="365760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517904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accuracy, precision, analytic sensitivity/specificity, limit of detection, and reportable range before clinical use.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505456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49808" y="2743200"/>
            <a:ext cx="365760" cy="365760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49808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505456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LDTs require full validation; FDA-cleared assays require verification — any modification triggers validation.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493008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49808" y="3730752"/>
            <a:ext cx="365760" cy="365760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493008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NGS, define variant types, depth, and difficult regions; the bioinformatics pipeline is part of the assay.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4480560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49808" y="4718304"/>
            <a:ext cx="365760" cy="365760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49808" y="4718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480560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 and revalidate the pipeline and interpretation databases after significant changes.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5468112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49808" y="5705856"/>
            <a:ext cx="365760" cy="365760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49808" y="5705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5468112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 quality with run QC, controls, trend monitoring, and proficiency testing; flag coverage gaps.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REFERENCES &amp; FURTHER READING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4828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Jennings LJ, et al. Guidelines for validation of NGS (AMP/CAP). J Mol Diagn. 2017.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Roy S, et al. Bioinformatics pipeline validation (AMP/CAP). J Mol Diagn. 2018.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CLSI MM09/MM17 (molecular methods/validation).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 CAP molecular pathology checklist.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BOARD REVIEW  ·  Q4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major variant-caller software upgrade, the laboratory should: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Report immediately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Revalidate and document before clinical reporting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Use it only for research forever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Avoid documentation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Lower the coverage threshold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Revalidate and document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pipeline changes require revalidation against reference materials before clinical use.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BOARD REVIEW  ·  Q3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limit of detection for an NGS variant assay primarily depends on: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Ambient temperature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Depth of coverage and assay design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The patient’s age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Tube color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Renal function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Depth of coverage/design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Adequate, uniform coverage enables detection of low-allele-fraction variants; LoD is established in validation.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BOARD REVIEW  ·  Q2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 NGS assay, the bioinformatics pipeline should be: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Ignored in validation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Validated and version-controlled as part of the test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Changed freely without documentation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Validated only once regardless of changes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Outsourced without oversight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Validated and version-controlled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materially affects results and must be validated, locked, and revalidated after significant changes.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BOARD REVIEW  ·  Q1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laboratory-developed molecular test requires which before clinical use?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Verification of manufacturer claims only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Full validation of performance characteristics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No study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Reference interval only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PT enrollment only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Full validation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LDTs require full validation; FDA-cleared assays require verification of the manufacturer’s claims.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Validation, QC &amp; Bioinformatics</dc:title>
  <dc:subject>PptxGenJS Presentation</dc:subject>
  <dc:creator>Makassed General Hospital — Department of Laboratory Medicine</dc:creator>
  <cp:lastModifiedBy>Makassed General Hospital — Department of Laboratory Medicine</cp:lastModifiedBy>
  <cp:revision>1</cp:revision>
  <dcterms:created xsi:type="dcterms:W3CDTF">2026-06-28T07:09:05Z</dcterms:created>
  <dcterms:modified xsi:type="dcterms:W3CDTF">2026-06-28T07:09:05Z</dcterms:modified>
</cp:coreProperties>
</file>